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92e52491f4339" /><Relationship Type="http://schemas.openxmlformats.org/officeDocument/2006/relationships/extended-properties" Target="/docProps/app.xml" Id="R8aac3846aa0f4c47" /><Relationship Type="http://schemas.openxmlformats.org/officeDocument/2006/relationships/officeDocument" Target="/ppt/presentation.xml" Id="R35c12bf7d48647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80ef212884731"/>
  </p:sldMasterIdLst>
  <p:notesMasterIdLst>
    <p:notesMasterId xmlns:r="http://schemas.openxmlformats.org/officeDocument/2006/relationships" r:id="R45e001b197254338"/>
  </p:notesMasterIdLst>
  <p:sldIdLst>
    <p:sldId xmlns:r="http://schemas.openxmlformats.org/officeDocument/2006/relationships" id="256" r:id="R9a217cf201c34e4b"/>
    <p:sldId xmlns:r="http://schemas.openxmlformats.org/officeDocument/2006/relationships" id="257" r:id="R5178f9ba21124337"/>
    <p:sldId xmlns:r="http://schemas.openxmlformats.org/officeDocument/2006/relationships" id="258" r:id="R6fa9682aa8c24e81"/>
    <p:sldId xmlns:r="http://schemas.openxmlformats.org/officeDocument/2006/relationships" id="259" r:id="R602744463d5b4ace"/>
    <p:sldId xmlns:r="http://schemas.openxmlformats.org/officeDocument/2006/relationships" id="260" r:id="R491db8437b4142cd"/>
    <p:sldId xmlns:r="http://schemas.openxmlformats.org/officeDocument/2006/relationships" id="261" r:id="Rd092427989e147ca"/>
    <p:sldId xmlns:r="http://schemas.openxmlformats.org/officeDocument/2006/relationships" id="262" r:id="Rcbe940276ba44003"/>
    <p:sldId xmlns:r="http://schemas.openxmlformats.org/officeDocument/2006/relationships" id="263" r:id="Rf5ea9ad84b854f24"/>
    <p:sldId xmlns:r="http://schemas.openxmlformats.org/officeDocument/2006/relationships" id="264" r:id="R65508fed7d774f97"/>
    <p:sldId xmlns:r="http://schemas.openxmlformats.org/officeDocument/2006/relationships" id="265" r:id="R2130a1363f3e42b4"/>
    <p:sldId xmlns:r="http://schemas.openxmlformats.org/officeDocument/2006/relationships" id="266" r:id="R9176882305b346b3"/>
    <p:sldId xmlns:r="http://schemas.openxmlformats.org/officeDocument/2006/relationships" id="267" r:id="Rfe93ceb9c6f741d5"/>
    <p:sldId xmlns:r="http://schemas.openxmlformats.org/officeDocument/2006/relationships" id="268" r:id="R6937654af2014ae5"/>
    <p:sldId xmlns:r="http://schemas.openxmlformats.org/officeDocument/2006/relationships" id="269" r:id="Rd3a0824b4bc240d9"/>
    <p:sldId xmlns:r="http://schemas.openxmlformats.org/officeDocument/2006/relationships" id="270" r:id="R7412945b016b4eaf"/>
    <p:sldId xmlns:r="http://schemas.openxmlformats.org/officeDocument/2006/relationships" id="271" r:id="R0e504c2c97784e5e"/>
    <p:sldId xmlns:r="http://schemas.openxmlformats.org/officeDocument/2006/relationships" id="272" r:id="Re2fd1e28b8a44f79"/>
    <p:sldId xmlns:r="http://schemas.openxmlformats.org/officeDocument/2006/relationships" id="273" r:id="R898be7ba49e0433d"/>
    <p:sldId xmlns:r="http://schemas.openxmlformats.org/officeDocument/2006/relationships" id="274" r:id="R464dad2a54354194"/>
    <p:sldId xmlns:r="http://schemas.openxmlformats.org/officeDocument/2006/relationships" id="275" r:id="R59e825a84e0a4402"/>
    <p:sldId xmlns:r="http://schemas.openxmlformats.org/officeDocument/2006/relationships" id="276" r:id="R8974de0d03ff4f2f"/>
    <p:sldId xmlns:r="http://schemas.openxmlformats.org/officeDocument/2006/relationships" id="277" r:id="Rf0bb4da04c724f83"/>
    <p:sldId xmlns:r="http://schemas.openxmlformats.org/officeDocument/2006/relationships" id="278" r:id="R087ea90c35594369"/>
    <p:sldId xmlns:r="http://schemas.openxmlformats.org/officeDocument/2006/relationships" id="279" r:id="Re5a103a850234895"/>
    <p:sldId xmlns:r="http://schemas.openxmlformats.org/officeDocument/2006/relationships" id="280" r:id="Rb2b424d027024d60"/>
    <p:sldId xmlns:r="http://schemas.openxmlformats.org/officeDocument/2006/relationships" id="281" r:id="R035084fb62f449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cc736f48114ded" /><Relationship Type="http://schemas.openxmlformats.org/officeDocument/2006/relationships/slideMaster" Target="/ppt/slideMasters/slideMaster1.xml" Id="R9c580ef212884731" /><Relationship Type="http://schemas.openxmlformats.org/officeDocument/2006/relationships/notesMaster" Target="/ppt/notesMasters/notesMaster1.xml" Id="R45e001b197254338" /><Relationship Type="http://schemas.openxmlformats.org/officeDocument/2006/relationships/presProps" Target="/ppt/presProps.xml" Id="R842e743bfb294282" /><Relationship Type="http://schemas.openxmlformats.org/officeDocument/2006/relationships/tableStyles" Target="/ppt/tableStyles.xml" Id="R75a74d01311a4300" /><Relationship Type="http://schemas.openxmlformats.org/officeDocument/2006/relationships/slide" Target="/ppt/slides/slide1.xml" Id="R9a217cf201c34e4b" /><Relationship Type="http://schemas.openxmlformats.org/officeDocument/2006/relationships/slide" Target="/ppt/slides/slide2.xml" Id="R5178f9ba21124337" /><Relationship Type="http://schemas.openxmlformats.org/officeDocument/2006/relationships/slide" Target="/ppt/slides/slide3.xml" Id="R6fa9682aa8c24e81" /><Relationship Type="http://schemas.openxmlformats.org/officeDocument/2006/relationships/slide" Target="/ppt/slides/slide4.xml" Id="R602744463d5b4ace" /><Relationship Type="http://schemas.openxmlformats.org/officeDocument/2006/relationships/slide" Target="/ppt/slides/slide5.xml" Id="R491db8437b4142cd" /><Relationship Type="http://schemas.openxmlformats.org/officeDocument/2006/relationships/slide" Target="/ppt/slides/slide6.xml" Id="Rd092427989e147ca" /><Relationship Type="http://schemas.openxmlformats.org/officeDocument/2006/relationships/slide" Target="/ppt/slides/slide7.xml" Id="Rcbe940276ba44003" /><Relationship Type="http://schemas.openxmlformats.org/officeDocument/2006/relationships/slide" Target="/ppt/slides/slide8.xml" Id="Rf5ea9ad84b854f24" /><Relationship Type="http://schemas.openxmlformats.org/officeDocument/2006/relationships/slide" Target="/ppt/slides/slide9.xml" Id="R65508fed7d774f97" /><Relationship Type="http://schemas.openxmlformats.org/officeDocument/2006/relationships/slide" Target="/ppt/slides/slide10.xml" Id="R2130a1363f3e42b4" /><Relationship Type="http://schemas.openxmlformats.org/officeDocument/2006/relationships/slide" Target="/ppt/slides/slide11.xml" Id="R9176882305b346b3" /><Relationship Type="http://schemas.openxmlformats.org/officeDocument/2006/relationships/slide" Target="/ppt/slides/slide12.xml" Id="Rfe93ceb9c6f741d5" /><Relationship Type="http://schemas.openxmlformats.org/officeDocument/2006/relationships/slide" Target="/ppt/slides/slide13.xml" Id="R6937654af2014ae5" /><Relationship Type="http://schemas.openxmlformats.org/officeDocument/2006/relationships/slide" Target="/ppt/slides/slide14.xml" Id="Rd3a0824b4bc240d9" /><Relationship Type="http://schemas.openxmlformats.org/officeDocument/2006/relationships/slide" Target="/ppt/slides/slide15.xml" Id="R7412945b016b4eaf" /><Relationship Type="http://schemas.openxmlformats.org/officeDocument/2006/relationships/slide" Target="/ppt/slides/slide16.xml" Id="R0e504c2c97784e5e" /><Relationship Type="http://schemas.openxmlformats.org/officeDocument/2006/relationships/slide" Target="/ppt/slides/slide17.xml" Id="Re2fd1e28b8a44f79" /><Relationship Type="http://schemas.openxmlformats.org/officeDocument/2006/relationships/slide" Target="/ppt/slides/slide18.xml" Id="R898be7ba49e0433d" /><Relationship Type="http://schemas.openxmlformats.org/officeDocument/2006/relationships/slide" Target="/ppt/slides/slide19.xml" Id="R464dad2a54354194" /><Relationship Type="http://schemas.openxmlformats.org/officeDocument/2006/relationships/slide" Target="/ppt/slides/slide20.xml" Id="R59e825a84e0a4402" /><Relationship Type="http://schemas.openxmlformats.org/officeDocument/2006/relationships/slide" Target="/ppt/slides/slide21.xml" Id="R8974de0d03ff4f2f" /><Relationship Type="http://schemas.openxmlformats.org/officeDocument/2006/relationships/slide" Target="/ppt/slides/slide22.xml" Id="Rf0bb4da04c724f83" /><Relationship Type="http://schemas.openxmlformats.org/officeDocument/2006/relationships/slide" Target="/ppt/slides/slide23.xml" Id="R087ea90c35594369" /><Relationship Type="http://schemas.openxmlformats.org/officeDocument/2006/relationships/slide" Target="/ppt/slides/slide24.xml" Id="Re5a103a850234895" /><Relationship Type="http://schemas.openxmlformats.org/officeDocument/2006/relationships/slide" Target="/ppt/slides/slide25.xml" Id="Rb2b424d027024d60" /><Relationship Type="http://schemas.openxmlformats.org/officeDocument/2006/relationships/slide" Target="/ppt/slides/slide26.xml" Id="R035084fb62f449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14a4ca0b243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548c2578424773" /><Relationship Type="http://schemas.openxmlformats.org/officeDocument/2006/relationships/notesMaster" Target="/ppt/notesMasters/notesMaster1.xml" Id="Rd3d9c08fd708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9cd24e3b83433e" /><Relationship Type="http://schemas.openxmlformats.org/officeDocument/2006/relationships/notesMaster" Target="/ppt/notesMasters/notesMaster1.xml" Id="Rf869b56cba3040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5dff6d125e408c" /><Relationship Type="http://schemas.openxmlformats.org/officeDocument/2006/relationships/notesMaster" Target="/ppt/notesMasters/notesMaster1.xml" Id="R9908eab5ab9843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3edce30c574f7c" /><Relationship Type="http://schemas.openxmlformats.org/officeDocument/2006/relationships/notesMaster" Target="/ppt/notesMasters/notesMaster1.xml" Id="R8f25bacaaa8241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7a974e895b4e9c" /><Relationship Type="http://schemas.openxmlformats.org/officeDocument/2006/relationships/notesMaster" Target="/ppt/notesMasters/notesMaster1.xml" Id="Re6f01ed4752f4b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d9f73612fd4bcf" /><Relationship Type="http://schemas.openxmlformats.org/officeDocument/2006/relationships/notesMaster" Target="/ppt/notesMasters/notesMaster1.xml" Id="Rdfd247314f07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c52ea33b0043f5" /><Relationship Type="http://schemas.openxmlformats.org/officeDocument/2006/relationships/notesMaster" Target="/ppt/notesMasters/notesMaster1.xml" Id="R54a6b53f99ed43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d51a7e3fea43c7" /><Relationship Type="http://schemas.openxmlformats.org/officeDocument/2006/relationships/notesMaster" Target="/ppt/notesMasters/notesMaster1.xml" Id="R89f5abf74b7e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bb3223a29643cf" /><Relationship Type="http://schemas.openxmlformats.org/officeDocument/2006/relationships/notesMaster" Target="/ppt/notesMasters/notesMaster1.xml" Id="R2f467785097a49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6890f4380d4dc2" /><Relationship Type="http://schemas.openxmlformats.org/officeDocument/2006/relationships/notesMaster" Target="/ppt/notesMasters/notesMaster1.xml" Id="R2abd381108a246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65d1f4c342476a" /><Relationship Type="http://schemas.openxmlformats.org/officeDocument/2006/relationships/notesMaster" Target="/ppt/notesMasters/notesMaster1.xml" Id="R64f280dbb7f743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536c6cf4394536" /><Relationship Type="http://schemas.openxmlformats.org/officeDocument/2006/relationships/notesMaster" Target="/ppt/notesMasters/notesMaster1.xml" Id="Re048c5629b3d41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89f641eb904d58" /><Relationship Type="http://schemas.openxmlformats.org/officeDocument/2006/relationships/notesMaster" Target="/ppt/notesMasters/notesMaster1.xml" Id="R77d0676ad3214a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c2314450db4768" /><Relationship Type="http://schemas.openxmlformats.org/officeDocument/2006/relationships/notesMaster" Target="/ppt/notesMasters/notesMaster1.xml" Id="Re2f81d39c1b844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11f6555da04570" /><Relationship Type="http://schemas.openxmlformats.org/officeDocument/2006/relationships/notesMaster" Target="/ppt/notesMasters/notesMaster1.xml" Id="Rab1518e4869845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96a00c18964a65" /><Relationship Type="http://schemas.openxmlformats.org/officeDocument/2006/relationships/notesMaster" Target="/ppt/notesMasters/notesMaster1.xml" Id="R3fd0f584628a4b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27a73873094295" /><Relationship Type="http://schemas.openxmlformats.org/officeDocument/2006/relationships/notesMaster" Target="/ppt/notesMasters/notesMaster1.xml" Id="Rc5e78e3f9ded4d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90693475c542e7" /><Relationship Type="http://schemas.openxmlformats.org/officeDocument/2006/relationships/notesMaster" Target="/ppt/notesMasters/notesMaster1.xml" Id="R5311fe10507544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90bc45ff024ac6" /><Relationship Type="http://schemas.openxmlformats.org/officeDocument/2006/relationships/notesMaster" Target="/ppt/notesMasters/notesMaster1.xml" Id="Re9f780ea39f64d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c5915a66034401" /><Relationship Type="http://schemas.openxmlformats.org/officeDocument/2006/relationships/notesMaster" Target="/ppt/notesMasters/notesMaster1.xml" Id="R5e4bba8d07df4c0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25d3b812df4088" /><Relationship Type="http://schemas.openxmlformats.org/officeDocument/2006/relationships/notesMaster" Target="/ppt/notesMasters/notesMaster1.xml" Id="R65cf4ded9c574f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fcc1bf24f941a6" /><Relationship Type="http://schemas.openxmlformats.org/officeDocument/2006/relationships/notesMaster" Target="/ppt/notesMasters/notesMaster1.xml" Id="R657dcefe724c4f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faa4b0cb964c96" /><Relationship Type="http://schemas.openxmlformats.org/officeDocument/2006/relationships/notesMaster" Target="/ppt/notesMasters/notesMaster1.xml" Id="Ra5c0131cf76345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3fea3fd430463d" /><Relationship Type="http://schemas.openxmlformats.org/officeDocument/2006/relationships/notesMaster" Target="/ppt/notesMasters/notesMaster1.xml" Id="R5b367eab01c948f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ba754c786c47bd" /><Relationship Type="http://schemas.openxmlformats.org/officeDocument/2006/relationships/notesMaster" Target="/ppt/notesMasters/notesMaster1.xml" Id="Ra42a27f58bea4b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600bf738e784bc7" /><Relationship Type="http://schemas.openxmlformats.org/officeDocument/2006/relationships/notesMaster" Target="/ppt/notesMasters/notesMaster1.xml" Id="Rca4b4547291347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pregunta concreta: ¿en qué parte de la operación se pierde hoy más tiempo buscando el estado de una obra? Mantener la conversación en procesos, no en un catálogo de pantallas.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Preguntar cuál de estas preguntas aparece con más frecuencia. No atribuir ahorros sin medirlos.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aviso de llegada y la compra no aumentan el stock. El ingreso cuenta cuando pañol confirma la recepción.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 hipotético: 80 movimientos registrados por día por 22 días hábiles equivalen a 1.760 registros mensuales. No es una medición de KlaseA ni una promesa de capacidad. En la versión interactiva se cambia el supuesto. Pedir la cifra real antes de reemplazarlo.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un ejemplo ficticio de bomba de achique. Separar claramente comprado, en tránsito y físicamente recibido.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 obra ficticia 43-DEMO-01. La pantalla es la interfaz real alimentada por un adaptador local de demostración.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como módulos especializados. No decir que todos los astilleros tienen el mismo flujo; la implantación requiere mapear sectores y sedes.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obra guarda su propia copia de la matriz para que un cambio futuro del modelo no altere una obra en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diferencia entre pedido y recepción. La pantalla muestra cifras de ejemplo, no estadísticas de uso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Semáforo es una función en evolución. Mostrarlo sólo en una reunión guiada si el caso de uso del prospecto lo justifica.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lista de demostración tiene productos, ubicaciones y saldos artificiales. Las alertas de conciliación de la escena son ejemplos.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19 movimientos visibles fueron generados en la escena local. No representar como volumen diario de la empresa.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Preguntar qué talleres internos o tercerizados tienen. Usar un circuito suyo durante la demostración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prometer optimización automática de rutas. La funcionalidad verificada es organización y seguimiento.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Mencionar que los datos iniciales pueden venir de planillas existentes; luego se consolidan en el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memoria viva está marcada beta en el código. No presentarla como automatización cerrada.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prometer costo total industrial ni margen de obra. El módulo actual se centra en materiales y cobertura de precios.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usar capturas de personal real. Para la reunión, preguntar cómo se registra hoy la asistencia sin pedir legajos ni nombres.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recorrido 3D existe para ciertos modelos disponibles; mostrarlo en vivo según el modelo que corresponda. La pantalla del deck usa K43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formulario de demostración no se envía. En la demo en vivo, usar un caso ficticio y un entorno autorizado.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prometer acuerdos de nivel de servicio, notificaciones o integraciones contractuales que aún no estén definidas.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alcance exacto de permisos y acompañamiento se define en implementación. No entrar en detalles de arquitectura durante la apertura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índice es para preguntas de profundidad, no leerlo completo en la exposición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funciones en evolución, como Semáforo y Memoria viva, se describen con esa condición. Evitar anunciar funciones no verificadas como cerradas.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Proponer reunión de diagnóstico antes de hablar de alcance económico. Acordar qué datos, integraciones y procesos del prospecto importan. No compartir credenciales en el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invitación a demo guiada. Insertar contacto comercial sólo cuando el dueño confirme nombre, correo y número que quiere publicar.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Todas las capturas incluidas usan un entorno local aislado con datos ficticios. Fuente funcional: sistema KlaseA revisado el 29/09/2026.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3550503c440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2bcd3f54534f5c" /><Relationship Type="http://schemas.openxmlformats.org/officeDocument/2006/relationships/slideLayout" Target="/ppt/slideLayouts/slideLayout1.xml" Id="Rb82eccd9de7543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eccd9de7543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7d74b7c164004" /><Relationship Type="http://schemas.openxmlformats.org/officeDocument/2006/relationships/image" Target="/ppt/media/image.png" Id="Rbb2befb9931b4ceb" /><Relationship Type="http://schemas.openxmlformats.org/officeDocument/2006/relationships/image" Target="/ppt/media/image2.png" Id="Re3be6634c3db4caf" /><Relationship Type="http://schemas.openxmlformats.org/officeDocument/2006/relationships/notesSlide" Target="/ppt/notesSlides/notesSlide1.xml" Id="R4193575176fb46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bc6f6452a482f" /><Relationship Type="http://schemas.openxmlformats.org/officeDocument/2006/relationships/notesSlide" Target="/ppt/notesSlides/notesSlide2.xml" Id="R3384e01c3a8b48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f7557ea6742e1" /><Relationship Type="http://schemas.openxmlformats.org/officeDocument/2006/relationships/image" Target="/ppt/media/image3.png" Id="Rb3892071e4f84425" /><Relationship Type="http://schemas.openxmlformats.org/officeDocument/2006/relationships/notesSlide" Target="/ppt/notesSlides/notesSlide3.xml" Id="Radee3a3d4d9b4f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e14c988de4cec" /><Relationship Type="http://schemas.openxmlformats.org/officeDocument/2006/relationships/notesSlide" Target="/ppt/notesSlides/notesSlide4.xml" Id="R6cb1ac8c1c3f46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dbe2d282245ad" /><Relationship Type="http://schemas.openxmlformats.org/officeDocument/2006/relationships/notesSlide" Target="/ppt/notesSlides/notesSlide5.xml" Id="Rc781ae8bf3e84c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1904f25b84a37" /><Relationship Type="http://schemas.openxmlformats.org/officeDocument/2006/relationships/image" Target="/ppt/media/image.jpeg" Id="Rc7af96f57d5540b1" /><Relationship Type="http://schemas.openxmlformats.org/officeDocument/2006/relationships/notesSlide" Target="/ppt/notesSlides/notesSlide6.xml" Id="Ra55e0e95cdd64a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0b1c8be374f22" /><Relationship Type="http://schemas.openxmlformats.org/officeDocument/2006/relationships/notesSlide" Target="/ppt/notesSlides/notesSlide7.xml" Id="Rfb030d3a11c440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31c26dfe848e8" /><Relationship Type="http://schemas.openxmlformats.org/officeDocument/2006/relationships/notesSlide" Target="/ppt/notesSlides/notesSlide8.xml" Id="Rb5425dacff3949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e30dcd6424a28" /><Relationship Type="http://schemas.openxmlformats.org/officeDocument/2006/relationships/image" Target="/ppt/media/image2.jpeg" Id="Rc6200355c0cb481d" /><Relationship Type="http://schemas.openxmlformats.org/officeDocument/2006/relationships/notesSlide" Target="/ppt/notesSlides/notesSlide9.xml" Id="Rbb79cb95c10e42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647b78ce24156" /><Relationship Type="http://schemas.openxmlformats.org/officeDocument/2006/relationships/notesSlide" Target="/ppt/notesSlides/notesSlide10.xml" Id="Ra22e6c65a0ef43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807aa0d874e3b" /><Relationship Type="http://schemas.openxmlformats.org/officeDocument/2006/relationships/image" Target="/ppt/media/image3.jpeg" Id="R4e1be2c8d9664f72" /><Relationship Type="http://schemas.openxmlformats.org/officeDocument/2006/relationships/notesSlide" Target="/ppt/notesSlides/notesSlide11.xml" Id="Rc1953053bba947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b7e2dc0fa49fa" /><Relationship Type="http://schemas.openxmlformats.org/officeDocument/2006/relationships/image" Target="/ppt/media/image4.jpeg" Id="Rccee7a90a14942c3" /><Relationship Type="http://schemas.openxmlformats.org/officeDocument/2006/relationships/notesSlide" Target="/ppt/notesSlides/notesSlide12.xml" Id="R0b0af4b01ad943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4a224f5a942af" /><Relationship Type="http://schemas.openxmlformats.org/officeDocument/2006/relationships/notesSlide" Target="/ppt/notesSlides/notesSlide13.xml" Id="Rc811b6bbe68140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81c9604c74009" /><Relationship Type="http://schemas.openxmlformats.org/officeDocument/2006/relationships/notesSlide" Target="/ppt/notesSlides/notesSlide14.xml" Id="R932b2d68c35c46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e3a51c964438" /><Relationship Type="http://schemas.openxmlformats.org/officeDocument/2006/relationships/notesSlide" Target="/ppt/notesSlides/notesSlide15.xml" Id="Re411042e12cb4e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7ba2de1474d38" /><Relationship Type="http://schemas.openxmlformats.org/officeDocument/2006/relationships/notesSlide" Target="/ppt/notesSlides/notesSlide16.xml" Id="Rdcbb4c379acd4e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56130e51a4f0e" /><Relationship Type="http://schemas.openxmlformats.org/officeDocument/2006/relationships/notesSlide" Target="/ppt/notesSlides/notesSlide17.xml" Id="R429ba1dbf14e42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b0a72aa414a76" /><Relationship Type="http://schemas.openxmlformats.org/officeDocument/2006/relationships/notesSlide" Target="/ppt/notesSlides/notesSlide18.xml" Id="Rc21b1eddef3640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e08edd3db4516" /><Relationship Type="http://schemas.openxmlformats.org/officeDocument/2006/relationships/image" Target="/ppt/media/image5.jpeg" Id="Reb4430ffc3724892" /><Relationship Type="http://schemas.openxmlformats.org/officeDocument/2006/relationships/notesSlide" Target="/ppt/notesSlides/notesSlide19.xml" Id="Raec86d966ee346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b03669db44d55" /><Relationship Type="http://schemas.openxmlformats.org/officeDocument/2006/relationships/image" Target="/ppt/media/image6.jpeg" Id="Rc1dfef1f4b6b4957" /><Relationship Type="http://schemas.openxmlformats.org/officeDocument/2006/relationships/notesSlide" Target="/ppt/notesSlides/notesSlide20.xml" Id="R1d512e029db841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4b93295ec445d" /><Relationship Type="http://schemas.openxmlformats.org/officeDocument/2006/relationships/notesSlide" Target="/ppt/notesSlides/notesSlide21.xml" Id="R6816bfea07c94f1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30a8a7b934550" /><Relationship Type="http://schemas.openxmlformats.org/officeDocument/2006/relationships/notesSlide" Target="/ppt/notesSlides/notesSlide22.xml" Id="R3f3f2afeee874d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5097033794823" /><Relationship Type="http://schemas.openxmlformats.org/officeDocument/2006/relationships/notesSlide" Target="/ppt/notesSlides/notesSlide23.xml" Id="R928dd4e4c4bb46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992c35b6c4a2d" /><Relationship Type="http://schemas.openxmlformats.org/officeDocument/2006/relationships/notesSlide" Target="/ppt/notesSlides/notesSlide24.xml" Id="Re4fb20a198d646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3b1f5215d4eb7" /><Relationship Type="http://schemas.openxmlformats.org/officeDocument/2006/relationships/notesSlide" Target="/ppt/notesSlides/notesSlide25.xml" Id="Rca3ec574d2b94c8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23115e1a54458" /><Relationship Type="http://schemas.openxmlformats.org/officeDocument/2006/relationships/image" Target="/ppt/media/image4.png" Id="R01575fc0a5a14320" /><Relationship Type="http://schemas.openxmlformats.org/officeDocument/2006/relationships/notesSlide" Target="/ppt/notesSlides/notesSlide26.xml" Id="R8278990e43cc46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FCC0385-574B-4A57-AC66-37649F89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B9B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EB9BE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CA02F31-CCBB-4C58-A762-C2281940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EB9B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B9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befb9931b4ceb"/>
          <a:stretch xmlns:a="http://schemas.openxmlformats.org/drawingml/2006/main"/>
        </p:blipFill>
        <p:spPr>
          <a:xfrm xmlns:a="http://schemas.openxmlformats.org/drawingml/2006/main">
            <a:off x="933450" y="457200"/>
            <a:ext cx="1600200" cy="106680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75C0C1-9C56-4F4B-B7B1-C6515287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858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integral</a:t>
            </a:r>
          </a:p>
          <a:p xmlns:a="http://schemas.openxmlformats.org/drawingml/2006/main">
            <a:pPr algn="l">
              <a:defRPr sz="5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astilleros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6A6ACC1-9220-4F28-BA4B-6162510C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4CED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ED0"/>
                </a:solidFill>
                <a:latin typeface="Arial"/>
                <a:ea typeface="Arial"/>
                <a:cs typeface="Arial"/>
              </a:rPr>
              <a:t>Una misma operación, desde la primera tarea de una obra hasta el servicio al propietario.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e6634c3db4caf"/>
          <a:stretch xmlns:a="http://schemas.openxmlformats.org/drawingml/2006/main"/>
        </p:blipFill>
        <p:spPr>
          <a:xfrm xmlns:a="http://schemas.openxmlformats.org/drawingml/2006/main">
            <a:off x="7353300" y="1932466"/>
            <a:ext cx="4429125" cy="2935918"/>
          </a:xfrm>
          <a:prstGeom xmlns:a="http://schemas.openxmlformats.org/drawingml/2006/main" prst="rect">
            <a:avLst/>
          </a:prstGeom>
        </p:spPr>
      </p:pic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5AA7E497-A1DC-474E-A369-10135B6B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87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8" name="edition">
            <a:extLst xmlns:a="http://schemas.openxmlformats.org/drawingml/2006/main">
              <a:ext uri="{FF2B5EF4-FFF2-40B4-BE49-F238E27FC236}">
                <a16:creationId xmlns:a16="http://schemas.microsoft.com/office/drawing/2014/main" id="{7C24CE75-F3B5-4789-94E6-03C0FA26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9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C9C9"/>
                </a:solidFill>
                <a:latin typeface="Arial"/>
                <a:ea typeface="Arial"/>
                <a:cs typeface="Arial"/>
              </a:rPr>
              <a:t>PRESENTACIÓN COMERCIAL · SEPTIEMBRE 2026</a:t>
            </a:r>
          </a:p>
        </p:txBody>
      </p:sp>
    </p:spTree>
    <p:extLst>
      <p:ext uri="{BB962C8B-B14F-4D97-AF65-F5344CB8AC3E}">
        <p14:creationId xmlns:p14="http://schemas.microsoft.com/office/powerpoint/2010/main" val="1315256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F63D476D-FF7F-4F2B-95DE-22841560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22B1F3-EB85-463B-8FA8-649C727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Cuatro preguntas de todos los días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AB73F99C-FEF2-41D9-BB14-3C38DE0B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Entre producción, compras y pañol, una misma unidad genera preguntas que cambian de manos.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89A72E6-B999-4F05-8C1B-F2E2FA30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AF69A60-56DF-4591-951A-74293C13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552B461-18EE-494C-97F2-E19D5C9A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q-0">
            <a:extLst xmlns:a="http://schemas.openxmlformats.org/drawingml/2006/main">
              <a:ext uri="{FF2B5EF4-FFF2-40B4-BE49-F238E27FC236}">
                <a16:creationId xmlns:a16="http://schemas.microsoft.com/office/drawing/2014/main" id="{AB3D2C85-348E-4143-9422-869C0B2B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1055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¿Qué falta para seguir una obra?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16EFCFBB-367F-4D8F-86F2-6671972A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9" name="q-1">
            <a:extLst xmlns:a="http://schemas.openxmlformats.org/drawingml/2006/main">
              <a:ext uri="{FF2B5EF4-FFF2-40B4-BE49-F238E27FC236}">
                <a16:creationId xmlns:a16="http://schemas.microsoft.com/office/drawing/2014/main" id="{ED90FB33-2DDB-43BC-B33F-23E25A2E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55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¿Se compró o sólo se pidió?</a:t>
            </a:r>
          </a:p>
        </p:txBody>
      </p:sp>
      <p:sp>
        <p:nvSpPr>
          <p:cNvPr id="10" name="q-rule-1">
            <a:extLst xmlns:a="http://schemas.openxmlformats.org/drawingml/2006/main">
              <a:ext uri="{FF2B5EF4-FFF2-40B4-BE49-F238E27FC236}">
                <a16:creationId xmlns:a16="http://schemas.microsoft.com/office/drawing/2014/main" id="{7304E8D8-4374-4030-9830-A3DFBC1D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1" name="q-2">
            <a:extLst xmlns:a="http://schemas.openxmlformats.org/drawingml/2006/main">
              <a:ext uri="{FF2B5EF4-FFF2-40B4-BE49-F238E27FC236}">
                <a16:creationId xmlns:a16="http://schemas.microsoft.com/office/drawing/2014/main" id="{1E47AB7F-AA99-450B-849E-A6FCD215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55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¿Llegó físicamente al pañol?</a:t>
            </a:r>
          </a:p>
        </p:txBody>
      </p:sp>
      <p:sp>
        <p:nvSpPr>
          <p:cNvPr id="12" name="q-rule-2">
            <a:extLst xmlns:a="http://schemas.openxmlformats.org/drawingml/2006/main">
              <a:ext uri="{FF2B5EF4-FFF2-40B4-BE49-F238E27FC236}">
                <a16:creationId xmlns:a16="http://schemas.microsoft.com/office/drawing/2014/main" id="{2A320C7E-439A-4CB3-88D1-DE60FA79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43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q-3">
            <a:extLst xmlns:a="http://schemas.openxmlformats.org/drawingml/2006/main">
              <a:ext uri="{FF2B5EF4-FFF2-40B4-BE49-F238E27FC236}">
                <a16:creationId xmlns:a16="http://schemas.microsoft.com/office/drawing/2014/main" id="{B0AEC331-C934-4AD6-9C57-8A34B0DB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55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¿Quién retiró el producto?</a:t>
            </a:r>
          </a:p>
        </p:txBody>
      </p:sp>
      <p:sp>
        <p:nvSpPr>
          <p:cNvPr id="14" name="q-rule-3">
            <a:extLst xmlns:a="http://schemas.openxmlformats.org/drawingml/2006/main">
              <a:ext uri="{FF2B5EF4-FFF2-40B4-BE49-F238E27FC236}">
                <a16:creationId xmlns:a16="http://schemas.microsoft.com/office/drawing/2014/main" id="{039A993E-C784-4753-875D-A242E768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36009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957EF362-E0A6-4E4B-ADEC-504A5FC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EL SISTEMA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B376F3-487A-4C5B-A8F6-4E231124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El recorrido de una obra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19EA17C-9CA2-4965-9710-47BE8766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La planificación, la compra y el movimiento físico comparten la misma referencia de obra.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A574A7F-0E25-49EA-8F46-A260433E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07B6B17-EF09-4658-B740-23CE171E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3CFC68D-F700-4C96-AF5F-5E6D10F9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step-num-0">
            <a:extLst xmlns:a="http://schemas.openxmlformats.org/drawingml/2006/main">
              <a:ext uri="{FF2B5EF4-FFF2-40B4-BE49-F238E27FC236}">
                <a16:creationId xmlns:a16="http://schemas.microsoft.com/office/drawing/2014/main" id="{EB09D624-5CA9-41C4-B044-CC19D52A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tep-0">
            <a:extLst xmlns:a="http://schemas.openxmlformats.org/drawingml/2006/main">
              <a:ext uri="{FF2B5EF4-FFF2-40B4-BE49-F238E27FC236}">
                <a16:creationId xmlns:a16="http://schemas.microsoft.com/office/drawing/2014/main" id="{AC541E94-4D6D-49EC-9AE9-2606C109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145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Plan de producción y tareas</a:t>
            </a:r>
          </a:p>
        </p:txBody>
      </p:sp>
      <p:sp>
        <p:nvSpPr>
          <p:cNvPr id="9" name="step-rule-0">
            <a:extLst xmlns:a="http://schemas.openxmlformats.org/drawingml/2006/main">
              <a:ext uri="{FF2B5EF4-FFF2-40B4-BE49-F238E27FC236}">
                <a16:creationId xmlns:a16="http://schemas.microsoft.com/office/drawing/2014/main" id="{D7F47728-B2EC-463A-9CCC-92857D6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step-num-1">
            <a:extLst xmlns:a="http://schemas.openxmlformats.org/drawingml/2006/main">
              <a:ext uri="{FF2B5EF4-FFF2-40B4-BE49-F238E27FC236}">
                <a16:creationId xmlns:a16="http://schemas.microsoft.com/office/drawing/2014/main" id="{FBAA14D0-B58E-439A-99D7-A221E853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D8D45B61-DF21-4C59-842E-FE5AD76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4322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Matriz de materiales del modelo</a:t>
            </a:r>
          </a:p>
        </p:txBody>
      </p:sp>
      <p:sp>
        <p:nvSpPr>
          <p:cNvPr id="12" name="step-rule-1">
            <a:extLst xmlns:a="http://schemas.openxmlformats.org/drawingml/2006/main">
              <a:ext uri="{FF2B5EF4-FFF2-40B4-BE49-F238E27FC236}">
                <a16:creationId xmlns:a16="http://schemas.microsoft.com/office/drawing/2014/main" id="{F80FFED1-55BA-4297-97B7-70240F83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55CCEFB7-6BB6-455D-A8D6-83712489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1342D616-4DC1-45D9-AABD-113207A1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718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Solicitud y gestión de compras</a:t>
            </a:r>
          </a:p>
        </p:txBody>
      </p:sp>
      <p:sp>
        <p:nvSpPr>
          <p:cNvPr id="15" name="step-rule-2">
            <a:extLst xmlns:a="http://schemas.openxmlformats.org/drawingml/2006/main">
              <a:ext uri="{FF2B5EF4-FFF2-40B4-BE49-F238E27FC236}">
                <a16:creationId xmlns:a16="http://schemas.microsoft.com/office/drawing/2014/main" id="{0357DC6E-0186-4EE2-8B39-DA50179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6" name="step-num-3">
            <a:extLst xmlns:a="http://schemas.openxmlformats.org/drawingml/2006/main">
              <a:ext uri="{FF2B5EF4-FFF2-40B4-BE49-F238E27FC236}">
                <a16:creationId xmlns:a16="http://schemas.microsoft.com/office/drawing/2014/main" id="{5143CB20-EBA4-48F0-85CC-FAF046E8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289995DC-0FA8-462C-B96C-690CBB33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0052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Aviso y recepción en pañol</a:t>
            </a:r>
          </a:p>
        </p:txBody>
      </p:sp>
      <p:sp>
        <p:nvSpPr>
          <p:cNvPr id="18" name="step-rule-3">
            <a:extLst xmlns:a="http://schemas.openxmlformats.org/drawingml/2006/main">
              <a:ext uri="{FF2B5EF4-FFF2-40B4-BE49-F238E27FC236}">
                <a16:creationId xmlns:a16="http://schemas.microsoft.com/office/drawing/2014/main" id="{04C94E9F-C4C3-4DF0-8B84-F776C117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9" name="step-num-4">
            <a:extLst xmlns:a="http://schemas.openxmlformats.org/drawingml/2006/main">
              <a:ext uri="{FF2B5EF4-FFF2-40B4-BE49-F238E27FC236}">
                <a16:creationId xmlns:a16="http://schemas.microsoft.com/office/drawing/2014/main" id="{4C14F117-7DD4-451C-89B9-CC6F1B86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5CE542DA-09F4-4CAF-9599-2D077FC3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291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Stock, transferencia y egreso</a:t>
            </a:r>
          </a:p>
        </p:txBody>
      </p:sp>
      <p:sp>
        <p:nvSpPr>
          <p:cNvPr id="21" name="step-rule-4">
            <a:extLst xmlns:a="http://schemas.openxmlformats.org/drawingml/2006/main">
              <a:ext uri="{FF2B5EF4-FFF2-40B4-BE49-F238E27FC236}">
                <a16:creationId xmlns:a16="http://schemas.microsoft.com/office/drawing/2014/main" id="{418E92B0-0730-44B8-84AB-68B0E4B6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22" name="step-num-5">
            <a:extLst xmlns:a="http://schemas.openxmlformats.org/drawingml/2006/main">
              <a:ext uri="{FF2B5EF4-FFF2-40B4-BE49-F238E27FC236}">
                <a16:creationId xmlns:a16="http://schemas.microsoft.com/office/drawing/2014/main" id="{CE139645-F7F7-4088-91FA-2C7464AB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step-5">
            <a:extLst xmlns:a="http://schemas.openxmlformats.org/drawingml/2006/main">
              <a:ext uri="{FF2B5EF4-FFF2-40B4-BE49-F238E27FC236}">
                <a16:creationId xmlns:a16="http://schemas.microsoft.com/office/drawing/2014/main" id="{15D1305B-CEF3-432D-AAA3-58B4340F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5782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Entrega, cliente y postventa</a:t>
            </a:r>
          </a:p>
        </p:txBody>
      </p:sp>
      <p:sp>
        <p:nvSpPr>
          <p:cNvPr id="24" name="step-rule-5">
            <a:extLst xmlns:a="http://schemas.openxmlformats.org/drawingml/2006/main">
              <a:ext uri="{FF2B5EF4-FFF2-40B4-BE49-F238E27FC236}">
                <a16:creationId xmlns:a16="http://schemas.microsoft.com/office/drawing/2014/main" id="{80D2ED5B-BA66-454D-94B2-2A6F251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1502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92071e4f84425"/>
          <a:stretch xmlns:a="http://schemas.openxmlformats.org/drawingml/2006/main"/>
        </p:blipFill>
        <p:spPr>
          <a:xfrm xmlns:a="http://schemas.openxmlformats.org/drawingml/2006/main">
            <a:off x="8258526" y="2686050"/>
            <a:ext cx="3218748" cy="2133600"/>
          </a:xfrm>
          <a:prstGeom xmlns:a="http://schemas.openxmlformats.org/drawingml/2006/main" prst="rect">
            <a:avLst/>
          </a:prstGeom>
        </p:spPr>
      </p:pic>
      <p:sp>
        <p:nvSpPr>
          <p:cNvPr id="26" name="journey-side">
            <a:extLst xmlns:a="http://schemas.openxmlformats.org/drawingml/2006/main">
              <a:ext uri="{FF2B5EF4-FFF2-40B4-BE49-F238E27FC236}">
                <a16:creationId xmlns:a16="http://schemas.microsoft.com/office/drawing/2014/main" id="{8CD4F60A-BC16-44AB-9789-9BB27E7B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76825"/>
            <a:ext cx="2914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UNA OBRA</a:t>
            </a:r>
          </a:p>
          <a:p xmlns:a="http://schemas.openxmlformats.org/drawingml/2006/main">
            <a:pPr algn="l">
              <a:defRPr sz="15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COMO REFERENCIA</a:t>
            </a:r>
          </a:p>
        </p:txBody>
      </p:sp>
    </p:spTree>
    <p:extLst>
      <p:ext uri="{BB962C8B-B14F-4D97-AF65-F5344CB8AC3E}">
        <p14:creationId xmlns:p14="http://schemas.microsoft.com/office/powerpoint/2010/main" val="750342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F75DEA7-EE94-47F2-B74E-E57610EB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ESCALA OPERATIVA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56A862-F34A-4778-A89C-4098AB7A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Cuando hay decenas de movimientos por día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762E1FF8-2D73-4C6F-8CA4-B8CDE437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Cada ingreso, retiro, traspaso o ajuste necesita contexto. El historial conserva material, cantidad, fecha, obra y responsable.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6A96099-1906-4173-9F43-83A2C038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4C2AD84-109E-49EF-BD69-167A241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5E474C2-1D03-4E6B-A0A2-C0C66453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scenario-label">
            <a:extLst xmlns:a="http://schemas.openxmlformats.org/drawingml/2006/main">
              <a:ext uri="{FF2B5EF4-FFF2-40B4-BE49-F238E27FC236}">
                <a16:creationId xmlns:a16="http://schemas.microsoft.com/office/drawing/2014/main" id="{04999669-8406-463A-B2AE-8F7FE4DE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EJEMPLO DE DIMENSIONAMIENTO</a:t>
            </a:r>
          </a:p>
        </p:txBody>
      </p:sp>
      <p:sp>
        <p:nvSpPr>
          <p:cNvPr id="8" name="day-value">
            <a:extLst xmlns:a="http://schemas.openxmlformats.org/drawingml/2006/main">
              <a:ext uri="{FF2B5EF4-FFF2-40B4-BE49-F238E27FC236}">
                <a16:creationId xmlns:a16="http://schemas.microsoft.com/office/drawing/2014/main" id="{BD63AB59-0483-4BC9-AA98-81646250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3333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50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0350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9" name="day-unit">
            <a:extLst xmlns:a="http://schemas.openxmlformats.org/drawingml/2006/main">
              <a:ext uri="{FF2B5EF4-FFF2-40B4-BE49-F238E27FC236}">
                <a16:creationId xmlns:a16="http://schemas.microsoft.com/office/drawing/2014/main" id="{58F57F5B-61A1-43BB-A395-3462E0C1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00450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registros / día</a:t>
            </a:r>
          </a:p>
        </p:txBody>
      </p:sp>
      <p:sp>
        <p:nvSpPr>
          <p:cNvPr id="10" name="scenario-rule">
            <a:extLst xmlns:a="http://schemas.openxmlformats.org/drawingml/2006/main">
              <a:ext uri="{FF2B5EF4-FFF2-40B4-BE49-F238E27FC236}">
                <a16:creationId xmlns:a16="http://schemas.microsoft.com/office/drawing/2014/main" id="{B1D6900F-307E-403E-B25F-B25BCB9A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1" name="equation">
            <a:extLst xmlns:a="http://schemas.openxmlformats.org/drawingml/2006/main">
              <a:ext uri="{FF2B5EF4-FFF2-40B4-BE49-F238E27FC236}">
                <a16:creationId xmlns:a16="http://schemas.microsoft.com/office/drawing/2014/main" id="{E659F44D-A52F-43CF-886F-56677079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80 × 22 días hábiles = 1.760 registros al mes</a:t>
            </a:r>
          </a:p>
        </p:txBody>
      </p:sp>
      <p:sp>
        <p:nvSpPr>
          <p:cNvPr id="12" name="scenario-note">
            <a:extLst xmlns:a="http://schemas.openxmlformats.org/drawingml/2006/main">
              <a:ext uri="{FF2B5EF4-FFF2-40B4-BE49-F238E27FC236}">
                <a16:creationId xmlns:a16="http://schemas.microsoft.com/office/drawing/2014/main" id="{741ED9D0-84CF-4977-AD33-D32E5C3A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Escenario ilustrativo. Ajustar con el promedio real del astillero.</a:t>
            </a:r>
          </a:p>
        </p:txBody>
      </p:sp>
    </p:spTree>
    <p:extLst>
      <p:ext uri="{BB962C8B-B14F-4D97-AF65-F5344CB8AC3E}">
        <p14:creationId xmlns:p14="http://schemas.microsoft.com/office/powerpoint/2010/main" val="204783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">
            <a:extLst xmlns:a="http://schemas.openxmlformats.org/drawingml/2006/main">
              <a:ext uri="{FF2B5EF4-FFF2-40B4-BE49-F238E27FC236}">
                <a16:creationId xmlns:a16="http://schemas.microsoft.com/office/drawing/2014/main" id="{2DEB20DF-A69B-4DF6-9791-DEBA0F1E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ESCALA OPERATIVA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12E700-ED91-4753-B1A6-3FBD7AFA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Un movimiento contado de principio a fin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2B4FF3C-5010-4ACC-9519-EE76DD3A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Un producto llega, se recibe, queda disponible y sale hacia una obra. Cada cambio deja una huella distinta.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8B79B40-E5D1-4811-931B-D0DCC34A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033B48D-D91F-4D6A-9F77-B40C8FCD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E2E7FC1-A709-4628-8DDE-83F6D0B2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trace-num-0">
            <a:extLst xmlns:a="http://schemas.openxmlformats.org/drawingml/2006/main">
              <a:ext uri="{FF2B5EF4-FFF2-40B4-BE49-F238E27FC236}">
                <a16:creationId xmlns:a16="http://schemas.microsoft.com/office/drawing/2014/main" id="{BB9B22C1-B622-4EA6-8C21-04F7689B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714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race-rule-0">
            <a:extLst xmlns:a="http://schemas.openxmlformats.org/drawingml/2006/main">
              <a:ext uri="{FF2B5EF4-FFF2-40B4-BE49-F238E27FC236}">
                <a16:creationId xmlns:a16="http://schemas.microsoft.com/office/drawing/2014/main" id="{2563D292-DB5F-4E4D-97EF-F4592151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9" name="trace-0">
            <a:extLst xmlns:a="http://schemas.openxmlformats.org/drawingml/2006/main">
              <a:ext uri="{FF2B5EF4-FFF2-40B4-BE49-F238E27FC236}">
                <a16:creationId xmlns:a16="http://schemas.microsoft.com/office/drawing/2014/main" id="{CBD56352-AD26-46FD-8E4C-44DE9674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Aviso de llegada</a:t>
            </a:r>
          </a:p>
        </p:txBody>
      </p:sp>
      <p:sp>
        <p:nvSpPr>
          <p:cNvPr id="10" name="trace-num-1">
            <a:extLst xmlns:a="http://schemas.openxmlformats.org/drawingml/2006/main">
              <a:ext uri="{FF2B5EF4-FFF2-40B4-BE49-F238E27FC236}">
                <a16:creationId xmlns:a16="http://schemas.microsoft.com/office/drawing/2014/main" id="{41FBAB2E-C018-4DDD-8409-DA7F7B90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43175"/>
            <a:ext cx="1714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race-rule-1">
            <a:extLst xmlns:a="http://schemas.openxmlformats.org/drawingml/2006/main">
              <a:ext uri="{FF2B5EF4-FFF2-40B4-BE49-F238E27FC236}">
                <a16:creationId xmlns:a16="http://schemas.microsoft.com/office/drawing/2014/main" id="{D6B38A75-5749-4E7D-BD9C-BC490B3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67050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2" name="trace-1">
            <a:extLst xmlns:a="http://schemas.openxmlformats.org/drawingml/2006/main">
              <a:ext uri="{FF2B5EF4-FFF2-40B4-BE49-F238E27FC236}">
                <a16:creationId xmlns:a16="http://schemas.microsoft.com/office/drawing/2014/main" id="{CFE1292A-1332-4F55-8F0F-3E24AF8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182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Recepción confirmada</a:t>
            </a:r>
          </a:p>
        </p:txBody>
      </p:sp>
      <p:sp>
        <p:nvSpPr>
          <p:cNvPr id="13" name="trace-num-2">
            <a:extLst xmlns:a="http://schemas.openxmlformats.org/drawingml/2006/main">
              <a:ext uri="{FF2B5EF4-FFF2-40B4-BE49-F238E27FC236}">
                <a16:creationId xmlns:a16="http://schemas.microsoft.com/office/drawing/2014/main" id="{41C8D720-6352-4467-877A-5E38E320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43175"/>
            <a:ext cx="1714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race-rule-2">
            <a:extLst xmlns:a="http://schemas.openxmlformats.org/drawingml/2006/main">
              <a:ext uri="{FF2B5EF4-FFF2-40B4-BE49-F238E27FC236}">
                <a16:creationId xmlns:a16="http://schemas.microsoft.com/office/drawing/2014/main" id="{F035FE4B-D5C7-41C1-9D26-6797DD0B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7050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5" name="trace-2">
            <a:extLst xmlns:a="http://schemas.openxmlformats.org/drawingml/2006/main">
              <a:ext uri="{FF2B5EF4-FFF2-40B4-BE49-F238E27FC236}">
                <a16:creationId xmlns:a16="http://schemas.microsoft.com/office/drawing/2014/main" id="{F961D932-8F4F-4207-8097-15A6605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2800"/>
            <a:ext cx="182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Saldo en la ubicación</a:t>
            </a:r>
          </a:p>
        </p:txBody>
      </p:sp>
      <p:sp>
        <p:nvSpPr>
          <p:cNvPr id="16" name="trace-num-3">
            <a:extLst xmlns:a="http://schemas.openxmlformats.org/drawingml/2006/main">
              <a:ext uri="{FF2B5EF4-FFF2-40B4-BE49-F238E27FC236}">
                <a16:creationId xmlns:a16="http://schemas.microsoft.com/office/drawing/2014/main" id="{FFB59D46-A7D6-49E1-A386-A3DB63E7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43175"/>
            <a:ext cx="1714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race-rule-3">
            <a:extLst xmlns:a="http://schemas.openxmlformats.org/drawingml/2006/main">
              <a:ext uri="{FF2B5EF4-FFF2-40B4-BE49-F238E27FC236}">
                <a16:creationId xmlns:a16="http://schemas.microsoft.com/office/drawing/2014/main" id="{D2337E3F-4F7C-417F-8BB1-D5D5E302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8" name="trace-3">
            <a:extLst xmlns:a="http://schemas.openxmlformats.org/drawingml/2006/main">
              <a:ext uri="{FF2B5EF4-FFF2-40B4-BE49-F238E27FC236}">
                <a16:creationId xmlns:a16="http://schemas.microsoft.com/office/drawing/2014/main" id="{510CB9A5-3CC6-4218-A570-04F9EE07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52800"/>
            <a:ext cx="182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Retiro asociado a obra</a:t>
            </a:r>
          </a:p>
        </p:txBody>
      </p:sp>
      <p:sp>
        <p:nvSpPr>
          <p:cNvPr id="19" name="trace-num-4">
            <a:extLst xmlns:a="http://schemas.openxmlformats.org/drawingml/2006/main">
              <a:ext uri="{FF2B5EF4-FFF2-40B4-BE49-F238E27FC236}">
                <a16:creationId xmlns:a16="http://schemas.microsoft.com/office/drawing/2014/main" id="{F1D0BA84-01AA-4417-96A5-97C02A27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43175"/>
            <a:ext cx="1714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trace-rule-4">
            <a:extLst xmlns:a="http://schemas.openxmlformats.org/drawingml/2006/main">
              <a:ext uri="{FF2B5EF4-FFF2-40B4-BE49-F238E27FC236}">
                <a16:creationId xmlns:a16="http://schemas.microsoft.com/office/drawing/2014/main" id="{13734310-96BC-4F89-90A9-D6E052E6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21" name="trace-4">
            <a:extLst xmlns:a="http://schemas.openxmlformats.org/drawingml/2006/main">
              <a:ext uri="{FF2B5EF4-FFF2-40B4-BE49-F238E27FC236}">
                <a16:creationId xmlns:a16="http://schemas.microsoft.com/office/drawing/2014/main" id="{8A6A7AD5-AD83-4E36-8C7B-22976DE9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182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Consulta en historial</a:t>
            </a:r>
          </a:p>
        </p:txBody>
      </p:sp>
      <p:sp>
        <p:nvSpPr>
          <p:cNvPr id="22" name="trace-caption">
            <a:extLst xmlns:a="http://schemas.openxmlformats.org/drawingml/2006/main">
              <a:ext uri="{FF2B5EF4-FFF2-40B4-BE49-F238E27FC236}">
                <a16:creationId xmlns:a16="http://schemas.microsoft.com/office/drawing/2014/main" id="{C72F4001-2356-412D-96F9-AA39CBAC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7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Ejemplo: bomba de achique para una unidad de demostración. La compra y el aviso no se cuentan como existencia.</a:t>
            </a:r>
          </a:p>
        </p:txBody>
      </p:sp>
    </p:spTree>
    <p:extLst>
      <p:ext uri="{BB962C8B-B14F-4D97-AF65-F5344CB8AC3E}">
        <p14:creationId xmlns:p14="http://schemas.microsoft.com/office/powerpoint/2010/main" val="135614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1508DE16-2D7D-47BA-8672-342DD340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PRODUCCIÓN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E969D9-9DE9-42F9-A69A-26BC0000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Obras y cronograma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F15D29D1-B1E3-4217-9F4C-752117C3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La obra reúne etapas, tareas, fechas relativas al desmolde, responsables y señales de atraso.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3CE9ACB-09CA-4F27-AFAD-6B3F8D24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A74FA1B-9D4A-46B4-B86F-A448C907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CB205B9-4790-4A0C-97B6-56171D1F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f96f57d5540b1"/>
          <a:stretch xmlns:a="http://schemas.openxmlformats.org/drawingml/2006/main"/>
        </p:blipFill>
        <p:spPr>
          <a:xfrm xmlns:a="http://schemas.openxmlformats.org/drawingml/2006/main">
            <a:off x="1235075" y="2152650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4BBF89B3-7C33-4C2B-8F89-964ABDE9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Pantalla del producto · obra y datos ficticios</a:t>
            </a:r>
          </a:p>
        </p:txBody>
      </p:sp>
      <p:sp>
        <p:nvSpPr>
          <p:cNvPr id="9" name="aside-line-0">
            <a:extLst xmlns:a="http://schemas.openxmlformats.org/drawingml/2006/main">
              <a:ext uri="{FF2B5EF4-FFF2-40B4-BE49-F238E27FC236}">
                <a16:creationId xmlns:a16="http://schemas.microsoft.com/office/drawing/2014/main" id="{98B57751-0F07-4110-93EA-0A8883DD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6697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0" name="aside-0">
            <a:extLst xmlns:a="http://schemas.openxmlformats.org/drawingml/2006/main">
              <a:ext uri="{FF2B5EF4-FFF2-40B4-BE49-F238E27FC236}">
                <a16:creationId xmlns:a16="http://schemas.microsoft.com/office/drawing/2014/main" id="{48ADB186-A8F6-4F6F-BF47-86A72A37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032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El avance se consulta por barco y por etapa.</a:t>
            </a:r>
          </a:p>
        </p:txBody>
      </p:sp>
      <p:sp>
        <p:nvSpPr>
          <p:cNvPr id="11" name="aside-line-1">
            <a:extLst xmlns:a="http://schemas.openxmlformats.org/drawingml/2006/main">
              <a:ext uri="{FF2B5EF4-FFF2-40B4-BE49-F238E27FC236}">
                <a16:creationId xmlns:a16="http://schemas.microsoft.com/office/drawing/2014/main" id="{95A165C4-5FEF-48FF-B81B-46E38B41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00450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2" name="aside-1">
            <a:extLst xmlns:a="http://schemas.openxmlformats.org/drawingml/2006/main">
              <a:ext uri="{FF2B5EF4-FFF2-40B4-BE49-F238E27FC236}">
                <a16:creationId xmlns:a16="http://schemas.microsoft.com/office/drawing/2014/main" id="{2B8D3138-8F98-4A62-BE6D-4BC910BD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La lista de trabajo cambia según el punto de la obra.</a:t>
            </a:r>
          </a:p>
        </p:txBody>
      </p:sp>
      <p:sp>
        <p:nvSpPr>
          <p:cNvPr id="13" name="aside-line-2">
            <a:extLst xmlns:a="http://schemas.openxmlformats.org/drawingml/2006/main">
              <a:ext uri="{FF2B5EF4-FFF2-40B4-BE49-F238E27FC236}">
                <a16:creationId xmlns:a16="http://schemas.microsoft.com/office/drawing/2014/main" id="{56D5D0B3-C174-4131-8384-6A8F61C7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3392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4" name="aside-2">
            <a:extLst xmlns:a="http://schemas.openxmlformats.org/drawingml/2006/main">
              <a:ext uri="{FF2B5EF4-FFF2-40B4-BE49-F238E27FC236}">
                <a16:creationId xmlns:a16="http://schemas.microsoft.com/office/drawing/2014/main" id="{E3F47997-DA59-49D8-8BC0-E9B6A072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6727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Los archivos quedan junto a la tarea.</a:t>
            </a:r>
          </a:p>
        </p:txBody>
      </p:sp>
    </p:spTree>
    <p:extLst>
      <p:ext uri="{BB962C8B-B14F-4D97-AF65-F5344CB8AC3E}">
        <p14:creationId xmlns:p14="http://schemas.microsoft.com/office/powerpoint/2010/main" val="520966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B2666325-9830-4295-92A2-DA350B21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PRODUCCIÓN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0C8E5A-39D1-4A13-BE27-8AD7A168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Laminación, madera y piezas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B47A77D5-1AED-45DE-BB9E-90B26F49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Cada sector puede trabajar con su propio detalle sin perder el vínculo con el barco.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3438AB4-3083-465B-8187-BF7BCE59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3735F01-E7E5-414C-85DE-C138E74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4754518-F36B-4114-AD69-1660C814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3BD19840-34EE-4DA1-BD4D-8F0BD5CB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9D59830F-68AF-4B60-A4E9-A380F890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Laminación por sede y por obra, con plantillas de proceso.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93AF9E31-680B-4300-9C7D-94155492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BE36A5E1-AB02-4B11-81D3-28B9EC30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AB5417F9-8B81-40F9-B7F7-D2CCFE5E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Maderas: entradas, existencias y movimientos del material.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92BD6FDC-E2A7-452A-ADC9-191138DB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01310D86-97F3-414E-90A7-57B30016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EC6E12A0-8829-4654-9055-4873DE14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Piezas de laminación asociadas a producción y seguimiento.</a:t>
            </a:r>
          </a:p>
        </p:txBody>
      </p:sp>
    </p:spTree>
    <p:extLst>
      <p:ext uri="{BB962C8B-B14F-4D97-AF65-F5344CB8AC3E}">
        <p14:creationId xmlns:p14="http://schemas.microsoft.com/office/powerpoint/2010/main" val="407508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23A0FAC6-BC57-446A-A5A0-9CEFFC87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MATERIALES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43FEBF-4530-4F24-BB6C-4B22E19F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Lo que necesita el modelo, lo que necesita esta obra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587621F6-96C7-45E4-B582-33D41279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La matriz del modelo se fija al iniciar cada obra. Los adicionales y decisiones del cliente quedan ligados a esa unidad.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546C22F-A0B9-4AAC-8B5D-E5C55D1B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F50DF44-9FB7-41DD-94FD-2FF92B6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9C4F2D-EFF7-4FFB-81D2-91A0B68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left-head">
            <a:extLst xmlns:a="http://schemas.openxmlformats.org/drawingml/2006/main">
              <a:ext uri="{FF2B5EF4-FFF2-40B4-BE49-F238E27FC236}">
                <a16:creationId xmlns:a16="http://schemas.microsoft.com/office/drawing/2014/main" id="{B18B758D-E18D-4A50-8CC7-CDA44F0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76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Matriz de modelo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4B578FCD-9A0E-44BB-AF3D-8F788E47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76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Materiales de obra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A6378B50-56D5-4104-863F-576AAF63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right-rule">
            <a:extLst xmlns:a="http://schemas.openxmlformats.org/drawingml/2006/main">
              <a:ext uri="{FF2B5EF4-FFF2-40B4-BE49-F238E27FC236}">
                <a16:creationId xmlns:a16="http://schemas.microsoft.com/office/drawing/2014/main" id="{F366065F-9AC8-46DD-8A62-66EC6FCD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1" name="left-0">
            <a:extLst xmlns:a="http://schemas.openxmlformats.org/drawingml/2006/main">
              <a:ext uri="{FF2B5EF4-FFF2-40B4-BE49-F238E27FC236}">
                <a16:creationId xmlns:a16="http://schemas.microsoft.com/office/drawing/2014/main" id="{D4816D23-9BCF-4EBC-BE3C-A1326D19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4695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Lista base de materiales</a:t>
            </a:r>
          </a:p>
        </p:txBody>
      </p:sp>
      <p:sp>
        <p:nvSpPr>
          <p:cNvPr id="12" name="left-1">
            <a:extLst xmlns:a="http://schemas.openxmlformats.org/drawingml/2006/main">
              <a:ext uri="{FF2B5EF4-FFF2-40B4-BE49-F238E27FC236}">
                <a16:creationId xmlns:a16="http://schemas.microsoft.com/office/drawing/2014/main" id="{E0584B2D-E518-405B-9869-A90A668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4695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Se reutiliza en obras nuevas</a:t>
            </a:r>
          </a:p>
        </p:txBody>
      </p:sp>
      <p:sp>
        <p:nvSpPr>
          <p:cNvPr id="13" name="left-2">
            <a:extLst xmlns:a="http://schemas.openxmlformats.org/drawingml/2006/main">
              <a:ext uri="{FF2B5EF4-FFF2-40B4-BE49-F238E27FC236}">
                <a16:creationId xmlns:a16="http://schemas.microsoft.com/office/drawing/2014/main" id="{ECAA29BA-8F3C-4CA4-8342-90F3F91E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4695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Puede evolucionar para el próximo barco</a:t>
            </a:r>
          </a:p>
        </p:txBody>
      </p:sp>
      <p:sp>
        <p:nvSpPr>
          <p:cNvPr id="14" name="right-0">
            <a:extLst xmlns:a="http://schemas.openxmlformats.org/drawingml/2006/main">
              <a:ext uri="{FF2B5EF4-FFF2-40B4-BE49-F238E27FC236}">
                <a16:creationId xmlns:a16="http://schemas.microsoft.com/office/drawing/2014/main" id="{0C50AE1F-793B-47F8-9C78-D99C3B16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24225"/>
            <a:ext cx="481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Copia estable para esa unidad</a:t>
            </a:r>
          </a:p>
        </p:txBody>
      </p:sp>
      <p:sp>
        <p:nvSpPr>
          <p:cNvPr id="15" name="right-1">
            <a:extLst xmlns:a="http://schemas.openxmlformats.org/drawingml/2006/main">
              <a:ext uri="{FF2B5EF4-FFF2-40B4-BE49-F238E27FC236}">
                <a16:creationId xmlns:a16="http://schemas.microsoft.com/office/drawing/2014/main" id="{1FFF1369-C63A-4E94-8327-B97BA75D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81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Adicionales y condicionantes</a:t>
            </a:r>
          </a:p>
        </p:txBody>
      </p:sp>
      <p:sp>
        <p:nvSpPr>
          <p:cNvPr id="16" name="right-2">
            <a:extLst xmlns:a="http://schemas.openxmlformats.org/drawingml/2006/main">
              <a:ext uri="{FF2B5EF4-FFF2-40B4-BE49-F238E27FC236}">
                <a16:creationId xmlns:a16="http://schemas.microsoft.com/office/drawing/2014/main" id="{0B5C8F81-DF0A-4295-A68C-B32B21BD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05375"/>
            <a:ext cx="481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Pedido, recepción y entrega vinculados</a:t>
            </a:r>
          </a:p>
        </p:txBody>
      </p:sp>
    </p:spTree>
    <p:extLst>
      <p:ext uri="{BB962C8B-B14F-4D97-AF65-F5344CB8AC3E}">
        <p14:creationId xmlns:p14="http://schemas.microsoft.com/office/powerpoint/2010/main" val="1195296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64AC44BA-FB82-4178-A3ED-B0AEEBED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ABASTECIMIENTO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D32760-3706-4CD9-8B48-F46E7A1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Compras con contexto de obra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ED6DBE76-F5DD-4A7F-A4C8-515FD66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Cada pedido tiene estado, prioridad y vínculo con la unidad que lo necesita.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7256ACB-7C12-439A-B91B-6139756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D90E2BC-F533-4FD2-BDDD-FCE00D79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AEB3EE-94DE-48F0-9CB1-5FF11A50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00355c0cb481d"/>
          <a:stretch xmlns:a="http://schemas.openxmlformats.org/drawingml/2006/main"/>
        </p:blipFill>
        <p:spPr>
          <a:xfrm xmlns:a="http://schemas.openxmlformats.org/drawingml/2006/main">
            <a:off x="1235075" y="2152650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0741CEF6-67FE-41D5-A4DC-27793F23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Pantalla del producto · solicitudes ficticias</a:t>
            </a:r>
          </a:p>
        </p:txBody>
      </p:sp>
      <p:sp>
        <p:nvSpPr>
          <p:cNvPr id="9" name="aside-line-0">
            <a:extLst xmlns:a="http://schemas.openxmlformats.org/drawingml/2006/main">
              <a:ext uri="{FF2B5EF4-FFF2-40B4-BE49-F238E27FC236}">
                <a16:creationId xmlns:a16="http://schemas.microsoft.com/office/drawing/2014/main" id="{B0596EBD-1EDE-4028-BC47-E77FB81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6697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0" name="aside-0">
            <a:extLst xmlns:a="http://schemas.openxmlformats.org/drawingml/2006/main">
              <a:ext uri="{FF2B5EF4-FFF2-40B4-BE49-F238E27FC236}">
                <a16:creationId xmlns:a16="http://schemas.microsoft.com/office/drawing/2014/main" id="{79D875A9-EBE0-47E8-85C2-E2C57DE0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032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Bandeja de urgentes, nuevos y cotizaciones.</a:t>
            </a:r>
          </a:p>
        </p:txBody>
      </p:sp>
      <p:sp>
        <p:nvSpPr>
          <p:cNvPr id="11" name="aside-line-1">
            <a:extLst xmlns:a="http://schemas.openxmlformats.org/drawingml/2006/main">
              <a:ext uri="{FF2B5EF4-FFF2-40B4-BE49-F238E27FC236}">
                <a16:creationId xmlns:a16="http://schemas.microsoft.com/office/drawing/2014/main" id="{53B96B67-10FA-4B7F-B85F-DB85C89D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00450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2" name="aside-1">
            <a:extLst xmlns:a="http://schemas.openxmlformats.org/drawingml/2006/main">
              <a:ext uri="{FF2B5EF4-FFF2-40B4-BE49-F238E27FC236}">
                <a16:creationId xmlns:a16="http://schemas.microsoft.com/office/drawing/2014/main" id="{51589D90-50D5-4E1C-A191-69216E3D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Seguimiento de lo comprado pendiente de recibir.</a:t>
            </a:r>
          </a:p>
        </p:txBody>
      </p:sp>
      <p:sp>
        <p:nvSpPr>
          <p:cNvPr id="13" name="aside-line-2">
            <a:extLst xmlns:a="http://schemas.openxmlformats.org/drawingml/2006/main">
              <a:ext uri="{FF2B5EF4-FFF2-40B4-BE49-F238E27FC236}">
                <a16:creationId xmlns:a16="http://schemas.microsoft.com/office/drawing/2014/main" id="{5138005F-5B66-4963-8593-D2432407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3392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4" name="aside-2">
            <a:extLst xmlns:a="http://schemas.openxmlformats.org/drawingml/2006/main">
              <a:ext uri="{FF2B5EF4-FFF2-40B4-BE49-F238E27FC236}">
                <a16:creationId xmlns:a16="http://schemas.microsoft.com/office/drawing/2014/main" id="{19D2F9E7-623F-4C71-BED3-A4C6934C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6727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Pedidos por obra y consulta por proveedor.</a:t>
            </a:r>
          </a:p>
        </p:txBody>
      </p:sp>
    </p:spTree>
    <p:extLst>
      <p:ext uri="{BB962C8B-B14F-4D97-AF65-F5344CB8AC3E}">
        <p14:creationId xmlns:p14="http://schemas.microsoft.com/office/powerpoint/2010/main" val="1586550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4F4DF9A5-C130-4366-A011-63F7F0A2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ABASTECIMIENTO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9EBA21-B5D7-44E6-A87A-771A921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Planificar compras por etapa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4F6ED8B4-7701-4B22-8570-53A5CDF7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Las plantillas ordenan qué se compra y cuándo. La vista por obra permite trabajar cada tanda con proveedores.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5583A76-4102-40B4-91DC-24D5BFEC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303C79C-21A5-496E-B0D8-12D38BC8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316874-9D7D-45E7-9D05-4E3031B6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45E632DD-CFB4-446B-A6FB-754A69CF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3891118D-CE7D-41BD-8332-091DA8C7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Plantillas para repetir decisiones de compra entre obras similares.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5611AD61-4A04-4D70-A8FA-D1081BFC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CC2E9845-C7AD-4CCD-A8CC-8749C4DB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3898676F-FD3D-439A-AC3B-E0AE91C0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Vista por obra y por proveedor para agrupar necesidades.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BBEC71ED-B222-43B5-946F-A74F986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2B9CF377-853E-4EAA-BF54-36000B25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366B3661-D8DA-4279-BC9E-E32A7453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Semáforo de riesgo como vista de seguimiento en evolución.</a:t>
            </a:r>
          </a:p>
        </p:txBody>
      </p:sp>
    </p:spTree>
    <p:extLst>
      <p:ext uri="{BB962C8B-B14F-4D97-AF65-F5344CB8AC3E}">
        <p14:creationId xmlns:p14="http://schemas.microsoft.com/office/powerpoint/2010/main" val="1296709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C08A6272-C5D4-4463-92F6-9BE2F466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PAÑOL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7647D2-85A0-4388-9BDA-99664A77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Recepción y stock físico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FE6B3D6-1B3B-4356-AD00-994CED8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El pañol confirma cantidades e incidencias antes de que el material figure disponible.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1B5C445-4A0A-49A1-AB6E-8E0B958F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96CC384-A313-4BAE-B71C-4ACAA548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7F0D15-84C8-408B-A8BC-9A1A5A24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be2c8d9664f72"/>
          <a:stretch xmlns:a="http://schemas.openxmlformats.org/drawingml/2006/main"/>
        </p:blipFill>
        <p:spPr>
          <a:xfrm xmlns:a="http://schemas.openxmlformats.org/drawingml/2006/main">
            <a:off x="1235075" y="2152650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0FAA5828-4A0A-4443-9085-56FAA352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Pantalla del producto · inventario ficticio</a:t>
            </a:r>
          </a:p>
        </p:txBody>
      </p:sp>
      <p:sp>
        <p:nvSpPr>
          <p:cNvPr id="9" name="aside-line-0">
            <a:extLst xmlns:a="http://schemas.openxmlformats.org/drawingml/2006/main">
              <a:ext uri="{FF2B5EF4-FFF2-40B4-BE49-F238E27FC236}">
                <a16:creationId xmlns:a16="http://schemas.microsoft.com/office/drawing/2014/main" id="{D37D4461-7DB1-4BFF-B672-F1A91BD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6697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0" name="aside-0">
            <a:extLst xmlns:a="http://schemas.openxmlformats.org/drawingml/2006/main">
              <a:ext uri="{FF2B5EF4-FFF2-40B4-BE49-F238E27FC236}">
                <a16:creationId xmlns:a16="http://schemas.microsoft.com/office/drawing/2014/main" id="{8B3AC2C3-3428-4E19-BA9B-F408656C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032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Existencias por sede, rubro y ubicación.</a:t>
            </a:r>
          </a:p>
        </p:txBody>
      </p:sp>
      <p:sp>
        <p:nvSpPr>
          <p:cNvPr id="11" name="aside-line-1">
            <a:extLst xmlns:a="http://schemas.openxmlformats.org/drawingml/2006/main">
              <a:ext uri="{FF2B5EF4-FFF2-40B4-BE49-F238E27FC236}">
                <a16:creationId xmlns:a16="http://schemas.microsoft.com/office/drawing/2014/main" id="{D135087E-E931-4910-8ECE-B0FC6AF6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00450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2" name="aside-1">
            <a:extLst xmlns:a="http://schemas.openxmlformats.org/drawingml/2006/main">
              <a:ext uri="{FF2B5EF4-FFF2-40B4-BE49-F238E27FC236}">
                <a16:creationId xmlns:a16="http://schemas.microsoft.com/office/drawing/2014/main" id="{34804CDA-845E-4A73-B4D1-545F04B4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Mínimos de reposición y señales a revisar.</a:t>
            </a:r>
          </a:p>
        </p:txBody>
      </p:sp>
      <p:sp>
        <p:nvSpPr>
          <p:cNvPr id="13" name="aside-line-2">
            <a:extLst xmlns:a="http://schemas.openxmlformats.org/drawingml/2006/main">
              <a:ext uri="{FF2B5EF4-FFF2-40B4-BE49-F238E27FC236}">
                <a16:creationId xmlns:a16="http://schemas.microsoft.com/office/drawing/2014/main" id="{9D0F5303-0EA5-42E6-A97B-A511E979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3392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4" name="aside-2">
            <a:extLst xmlns:a="http://schemas.openxmlformats.org/drawingml/2006/main">
              <a:ext uri="{FF2B5EF4-FFF2-40B4-BE49-F238E27FC236}">
                <a16:creationId xmlns:a16="http://schemas.microsoft.com/office/drawing/2014/main" id="{3669BE8B-F183-481F-B84E-21FC15EC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6727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Traspasos y conteos con historial.</a:t>
            </a:r>
          </a:p>
        </p:txBody>
      </p:sp>
    </p:spTree>
    <p:extLst>
      <p:ext uri="{BB962C8B-B14F-4D97-AF65-F5344CB8AC3E}">
        <p14:creationId xmlns:p14="http://schemas.microsoft.com/office/powerpoint/2010/main" val="1009333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2FAB6AC1-0B2A-4606-9354-C675C79A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PAÑOL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961F53-D7C2-4383-BD21-1E657CD1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Historial de movimientos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BDBDA62D-0F1C-4EDE-BDBC-3A941AF0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Una salida puede consultarse por producto, obra, persona y fecha. Las devoluciones y la estandarización tienen su propio recorrido.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3DD3208-43F6-42E4-B776-34F11E9D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FF2EF55-2B51-43B0-B61C-AF6F3380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78ADB7D-913B-4C88-9B2C-DA28CB31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e7a90a14942c3"/>
          <a:stretch xmlns:a="http://schemas.openxmlformats.org/drawingml/2006/main"/>
        </p:blipFill>
        <p:spPr>
          <a:xfrm xmlns:a="http://schemas.openxmlformats.org/drawingml/2006/main">
            <a:off x="1235075" y="2152650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46372F77-0228-473A-816E-D967526D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Pantalla del producto · 19 movimientos ficticios</a:t>
            </a:r>
          </a:p>
        </p:txBody>
      </p:sp>
      <p:sp>
        <p:nvSpPr>
          <p:cNvPr id="9" name="aside-line-0">
            <a:extLst xmlns:a="http://schemas.openxmlformats.org/drawingml/2006/main">
              <a:ext uri="{FF2B5EF4-FFF2-40B4-BE49-F238E27FC236}">
                <a16:creationId xmlns:a16="http://schemas.microsoft.com/office/drawing/2014/main" id="{118733F3-6CC7-4C49-B838-F58C308A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6697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0" name="aside-0">
            <a:extLst xmlns:a="http://schemas.openxmlformats.org/drawingml/2006/main">
              <a:ext uri="{FF2B5EF4-FFF2-40B4-BE49-F238E27FC236}">
                <a16:creationId xmlns:a16="http://schemas.microsoft.com/office/drawing/2014/main" id="{4CF8BDB0-C9DC-4313-95B2-938029C8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032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Ingresos y egresos con signo y responsable.</a:t>
            </a:r>
          </a:p>
        </p:txBody>
      </p:sp>
      <p:sp>
        <p:nvSpPr>
          <p:cNvPr id="11" name="aside-line-1">
            <a:extLst xmlns:a="http://schemas.openxmlformats.org/drawingml/2006/main">
              <a:ext uri="{FF2B5EF4-FFF2-40B4-BE49-F238E27FC236}">
                <a16:creationId xmlns:a16="http://schemas.microsoft.com/office/drawing/2014/main" id="{16EEFEBA-DAAD-40C3-B72F-4CEB9FEB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00450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2" name="aside-1">
            <a:extLst xmlns:a="http://schemas.openxmlformats.org/drawingml/2006/main">
              <a:ext uri="{FF2B5EF4-FFF2-40B4-BE49-F238E27FC236}">
                <a16:creationId xmlns:a16="http://schemas.microsoft.com/office/drawing/2014/main" id="{DCD3980A-BCE2-452E-BF1F-1F585B1A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Egresos vinculados a obra y sector.</a:t>
            </a:r>
          </a:p>
        </p:txBody>
      </p:sp>
      <p:sp>
        <p:nvSpPr>
          <p:cNvPr id="13" name="aside-line-2">
            <a:extLst xmlns:a="http://schemas.openxmlformats.org/drawingml/2006/main">
              <a:ext uri="{FF2B5EF4-FFF2-40B4-BE49-F238E27FC236}">
                <a16:creationId xmlns:a16="http://schemas.microsoft.com/office/drawing/2014/main" id="{BD03D5FB-1061-4435-B4EF-4B1B81A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3392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4" name="aside-2">
            <a:extLst xmlns:a="http://schemas.openxmlformats.org/drawingml/2006/main">
              <a:ext uri="{FF2B5EF4-FFF2-40B4-BE49-F238E27FC236}">
                <a16:creationId xmlns:a16="http://schemas.microsoft.com/office/drawing/2014/main" id="{FE0B9105-01D1-4239-BE6C-023DAE8D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6727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Escáner, solicitudes y NFC según el puesto.</a:t>
            </a:r>
          </a:p>
        </p:txBody>
      </p:sp>
    </p:spTree>
    <p:extLst>
      <p:ext uri="{BB962C8B-B14F-4D97-AF65-F5344CB8AC3E}">
        <p14:creationId xmlns:p14="http://schemas.microsoft.com/office/powerpoint/2010/main" val="21445625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DAA582E9-7BFF-4E9F-86B1-FDF7486A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TALLERES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12B8ED-79A4-44DC-A35E-77968446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Muebles, tornería y marmolería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9D87091F-CFB3-4116-B45C-A39DF5E8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Los procesos que salen del flujo central conservan piezas, responsables, estados y retornos.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E9C2C97-61DE-479B-AB98-75B1CC5E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2BEBE7B-21CD-4634-8A68-18D6FA3B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3644868-B7AA-4C19-9E58-0BC1462E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C7F2CB66-64D4-4FD6-B30D-F5B8A6A2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E6AE234F-9336-4239-A042-46661AA4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Muebles: proceso y órdenes de trabajo.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E11A2EC1-5E78-4426-A5A1-D92FB51A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869D977A-CE44-494E-A745-539C872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765477F4-4D4E-44BD-A442-CDBCBC82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Tornería: circuito, materiales y movimientos.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84BF45A2-A794-4B74-A2B3-284AC8CA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4C5C172E-B444-4252-A343-0844E751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F1E0E52A-9C20-43A5-9040-F1AF00B1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Marmolería: seguimiento por obra y entregas.</a:t>
            </a:r>
          </a:p>
        </p:txBody>
      </p:sp>
    </p:spTree>
    <p:extLst>
      <p:ext uri="{BB962C8B-B14F-4D97-AF65-F5344CB8AC3E}">
        <p14:creationId xmlns:p14="http://schemas.microsoft.com/office/powerpoint/2010/main" val="7720194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B64BDB6D-8FD6-4436-9663-C933EC83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COORDINACIÓN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0013EA-E914-4EBE-AE89-8FB8EC1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Logística y calendario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6F6EC9A0-9F6C-4A7D-84FF-1B6235B1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Fletes, grúas, traslados y fechas productivas se consultan junto con la obra que los requiere.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2413892-1FBC-46FA-B085-C990E2AA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735699C-AF92-4774-A5AB-A6A2C64B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63A2357-FD0B-4C6F-B24F-80B16FB9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E369388C-9C98-4702-AFC8-DD88A9EE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A6BFF6B0-933F-482A-AD0C-FF429465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Agenda de logística para planificar recursos.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1D9DF405-7D7E-44E6-8F92-45AD8C88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4EC49A6F-2659-41A5-B9E1-D2AFF9E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C83F89AD-42BE-4AF1-9D20-58CED719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Calendario de producción y referencias de desmolde.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213C9BA2-E461-4E11-B115-D71DC93F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4165E6BA-9819-4824-822E-C059B7F7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4855CC4E-D35B-4BF3-AC44-097F56B9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Alertas de fechas relevantes para tomar decisiones antes.</a:t>
            </a:r>
          </a:p>
        </p:txBody>
      </p:sp>
    </p:spTree>
    <p:extLst>
      <p:ext uri="{BB962C8B-B14F-4D97-AF65-F5344CB8AC3E}">
        <p14:creationId xmlns:p14="http://schemas.microsoft.com/office/powerpoint/2010/main" val="13203313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717A0016-817E-4312-ACD7-CB16B3A3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EQUIPOS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CD98EB-C022-4082-9AA6-A40AFD31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Motores y grupos por unidad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E5F645E-9C2A-4BD8-BE32-B2E81E4B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El módulo reúne asignación al barco, equipos en el galpón, entregados y movimientos de cada unidad.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0E25874-06E0-4374-A74E-3A9C026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8D4EE3C-82C8-4DFC-A83A-A9F5E783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8882451-CD4A-48AB-9385-0D2502B7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16289366-0C91-4C13-84EC-19208A32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F844C074-08C9-46A9-9E92-A0F5632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Vista por barco para saber qué equipo corresponde.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7CFCE1AC-B774-41DD-894A-45F38F22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89555A44-3AAF-421C-B28C-79E974F8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65FC5896-B811-42D0-BC5E-37F3211A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Existencias separadas de lo ya entregado.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C2484BA5-1769-4CB2-B4CB-4AA52704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BB2B3167-9DCE-4139-BF20-7D88DC76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89783B20-9E0B-49CF-9348-8960DCB8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Historial para seguir números de serie en postventa.</a:t>
            </a:r>
          </a:p>
        </p:txBody>
      </p:sp>
    </p:spTree>
    <p:extLst>
      <p:ext uri="{BB962C8B-B14F-4D97-AF65-F5344CB8AC3E}">
        <p14:creationId xmlns:p14="http://schemas.microsoft.com/office/powerpoint/2010/main" val="19645171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957AC9FE-9F1F-4495-8006-8A5E82BE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2DCE74-9969-4CD1-A2A2-BF6ABFC3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Memoria de cada barco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C535C8D4-FDA1-4854-9761-DA844329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Las elecciones de terminación y equipamiento quedan en la unidad. La memoria viva cruza esas decisiones con la operación.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14601B5-676D-411A-931B-0E63D690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F4EEC33-4AE3-43C8-89AE-420DFA9F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374AF6-F41A-4B7E-997D-324247A2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251D2875-DA69-48FD-98C5-FD2AA4D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C16F6113-78CF-4D53-AB85-2DC2B5F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Showroom de materiales y terminaciones.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36C3E786-42D7-4B6B-A8A9-C1FAFE92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9FF40BF6-3277-4742-8E93-D3C81F7C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0DF4608A-A276-41D9-A751-4D5CF535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Vista de planilla y memoria descriptiva.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35C99A58-49B9-47BB-BD5C-D231661F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9149F323-F6FD-4D65-8E53-22A65301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5E43AC93-5402-49D3-B67A-42AFD8EF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Cruces con materiales y avance de la obra en versión beta.</a:t>
            </a:r>
          </a:p>
        </p:txBody>
      </p:sp>
    </p:spTree>
    <p:extLst>
      <p:ext uri="{BB962C8B-B14F-4D97-AF65-F5344CB8AC3E}">
        <p14:creationId xmlns:p14="http://schemas.microsoft.com/office/powerpoint/2010/main" val="17789873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B3E42C62-867C-4F30-80AB-75F62D68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GESTIÓN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290718-70D6-4EB8-BAAD-76FC4092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Precios y costo de materiales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5C34CD9-518B-4E1B-B2AB-F73B15A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La cobertura de precios se ve junto al cálculo. Un total incompleto debe mostrarse como incompleto.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91E2E10-4FA6-43E2-B406-1447CA93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443489D-E1EF-4DBC-B697-19CBDB0C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2F7C466-B260-412A-800D-FB2D13D0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1E68CB02-859F-48A4-AABF-FC8126CE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553D9B41-C05D-4EB1-9B36-78FABD0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Carga y actualización de precios por material y proveedor.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3E51500B-0A76-49D3-B2C2-3720CBB0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01CDD514-D630-4D6F-8836-19830786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0B78BA05-54DF-41B3-B9AD-1CDFD8AF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Costo de materiales por rubro y modelo.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71204CCB-85E1-4310-9A56-FFE80581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AE8FC94A-6160-4E67-B4A9-410FC5CF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B4DCFD3E-595B-4265-97E2-FD15ADFD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Listado de ítems que todavía requieren precio.</a:t>
            </a:r>
          </a:p>
        </p:txBody>
      </p:sp>
    </p:spTree>
    <p:extLst>
      <p:ext uri="{BB962C8B-B14F-4D97-AF65-F5344CB8AC3E}">
        <p14:creationId xmlns:p14="http://schemas.microsoft.com/office/powerpoint/2010/main" val="8789454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544B6D2F-091B-4ED0-8B30-B2FEC91B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PERSONAS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EA9658-BA54-4846-B210-10809B7F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RRHH y capacidad operativa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C9981B1F-6BA4-4294-B918-38F8D268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Presentismo, horas extras, oficios y asignación a obras en una vista para cada rol autorizado.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E48C98F-6F70-41EB-A7CC-4EC3A2AA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5B9739A-2495-406B-B44E-F4CFD108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4ECB0A6-4577-4093-94FB-39480BC9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C4C95E93-6C01-4DC6-9DD2-7D77A58E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D3F90608-8379-4D85-AD26-4D8A56B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Registro diario de asistencia.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0B38EEAC-499C-459D-ABD6-AFAF4E4A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5E5B213F-112F-4384-92FA-DCA65398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FFC2FDB1-B35D-4348-9092-EAE04903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Horas extras y seguimiento por empleado.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FC3839B4-6036-4515-84D1-1BF7F1B4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84BD9541-796A-4DD1-8DD8-E0331422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F1965C29-FC73-47F1-BDAC-9A82AAF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Oficios, equipos y obras relacionados.</a:t>
            </a:r>
          </a:p>
        </p:txBody>
      </p:sp>
    </p:spTree>
    <p:extLst>
      <p:ext uri="{BB962C8B-B14F-4D97-AF65-F5344CB8AC3E}">
        <p14:creationId xmlns:p14="http://schemas.microsoft.com/office/powerpoint/2010/main" val="10294012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07A6C9BD-61A9-45E8-A7D3-FFF1F47C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EXPERIENCIA DEL PROPIETARIO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33645A-3621-4258-ACDE-04BEDD1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Un portal que sigue después de la entrega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AA42A746-B860-4EFE-92DC-72579364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El cliente encuentra información de su barco en un manual pensado para usarlo, no para archivarlo.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ABB6C54-E2AE-474B-B560-CC7AB25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FD27857-71D9-47CB-8570-69D8A3AA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BFD8BDA-EF3A-4909-9EE1-CDBA53FF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430ffc3724892"/>
          <a:stretch xmlns:a="http://schemas.openxmlformats.org/drawingml/2006/main"/>
        </p:blipFill>
        <p:spPr>
          <a:xfrm xmlns:a="http://schemas.openxmlformats.org/drawingml/2006/main">
            <a:off x="1233207" y="2152650"/>
            <a:ext cx="7115735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6F86A2FB-72D1-42B3-8B1B-33FC3C61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Portal real · propietario y unidad ficticios</a:t>
            </a:r>
          </a:p>
        </p:txBody>
      </p:sp>
      <p:sp>
        <p:nvSpPr>
          <p:cNvPr id="9" name="aside-line-0">
            <a:extLst xmlns:a="http://schemas.openxmlformats.org/drawingml/2006/main">
              <a:ext uri="{FF2B5EF4-FFF2-40B4-BE49-F238E27FC236}">
                <a16:creationId xmlns:a16="http://schemas.microsoft.com/office/drawing/2014/main" id="{94B4C6B0-44AB-4521-8CA1-B6FF2317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6697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0" name="aside-0">
            <a:extLst xmlns:a="http://schemas.openxmlformats.org/drawingml/2006/main">
              <a:ext uri="{FF2B5EF4-FFF2-40B4-BE49-F238E27FC236}">
                <a16:creationId xmlns:a16="http://schemas.microsoft.com/office/drawing/2014/main" id="{8A36B76D-833D-44A0-AB7F-CA952EE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032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Doce capítulos de uso y mantenimiento.</a:t>
            </a:r>
          </a:p>
        </p:txBody>
      </p:sp>
      <p:sp>
        <p:nvSpPr>
          <p:cNvPr id="11" name="aside-line-1">
            <a:extLst xmlns:a="http://schemas.openxmlformats.org/drawingml/2006/main">
              <a:ext uri="{FF2B5EF4-FFF2-40B4-BE49-F238E27FC236}">
                <a16:creationId xmlns:a16="http://schemas.microsoft.com/office/drawing/2014/main" id="{C978768D-BF85-4EC7-9A49-998CDF9C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00450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2" name="aside-1">
            <a:extLst xmlns:a="http://schemas.openxmlformats.org/drawingml/2006/main">
              <a:ext uri="{FF2B5EF4-FFF2-40B4-BE49-F238E27FC236}">
                <a16:creationId xmlns:a16="http://schemas.microsoft.com/office/drawing/2014/main" id="{64A99B2E-962F-4A60-A118-48D8AFCF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Búsqueda, modo de emergencia y recorrido 3D.</a:t>
            </a:r>
          </a:p>
        </p:txBody>
      </p:sp>
      <p:sp>
        <p:nvSpPr>
          <p:cNvPr id="13" name="aside-line-2">
            <a:extLst xmlns:a="http://schemas.openxmlformats.org/drawingml/2006/main">
              <a:ext uri="{FF2B5EF4-FFF2-40B4-BE49-F238E27FC236}">
                <a16:creationId xmlns:a16="http://schemas.microsoft.com/office/drawing/2014/main" id="{49D945CE-51D8-4A28-8B23-CBB9D100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3392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4" name="aside-2">
            <a:extLst xmlns:a="http://schemas.openxmlformats.org/drawingml/2006/main">
              <a:ext uri="{FF2B5EF4-FFF2-40B4-BE49-F238E27FC236}">
                <a16:creationId xmlns:a16="http://schemas.microsoft.com/office/drawing/2014/main" id="{B1DCB1E6-0F86-433E-A37E-8E17346A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6727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Contenido específico del modelo.</a:t>
            </a:r>
          </a:p>
        </p:txBody>
      </p:sp>
    </p:spTree>
    <p:extLst>
      <p:ext uri="{BB962C8B-B14F-4D97-AF65-F5344CB8AC3E}">
        <p14:creationId xmlns:p14="http://schemas.microsoft.com/office/powerpoint/2010/main" val="14115614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44234338-D4D2-4D82-ABA0-9689AD45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EXPERIENCIA DEL PROPIETARIO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852863-DC14-4CE4-807C-28EC4379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Postventa desde el mismo portal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A8750F1-D916-41B2-8EFD-2D8E83D9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El propietario puede reportar un problema, adjuntar fotos y consultar el avance del caso.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AF501DA-1D9C-4DB2-AA7D-C85B4E63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39EB85E-72AD-4395-9352-E7F6EA8E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067D819-C7EC-469D-A126-0E357E19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fef1f4b6b4957"/>
          <a:stretch xmlns:a="http://schemas.openxmlformats.org/drawingml/2006/main"/>
        </p:blipFill>
        <p:spPr>
          <a:xfrm xmlns:a="http://schemas.openxmlformats.org/drawingml/2006/main">
            <a:off x="1233207" y="2152650"/>
            <a:ext cx="7115735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6B9CE438-3841-4D9F-B3F1-76F27F66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Portal real · formulario sin datos personales</a:t>
            </a:r>
          </a:p>
        </p:txBody>
      </p:sp>
      <p:sp>
        <p:nvSpPr>
          <p:cNvPr id="9" name="aside-line-0">
            <a:extLst xmlns:a="http://schemas.openxmlformats.org/drawingml/2006/main">
              <a:ext uri="{FF2B5EF4-FFF2-40B4-BE49-F238E27FC236}">
                <a16:creationId xmlns:a16="http://schemas.microsoft.com/office/drawing/2014/main" id="{649D42C0-0EC9-44A4-B7F6-646AA7F7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6697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0" name="aside-0">
            <a:extLst xmlns:a="http://schemas.openxmlformats.org/drawingml/2006/main">
              <a:ext uri="{FF2B5EF4-FFF2-40B4-BE49-F238E27FC236}">
                <a16:creationId xmlns:a16="http://schemas.microsoft.com/office/drawing/2014/main" id="{D43BEA1F-9EE5-4AEC-A4D7-9A0A4EA2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032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Categoría y descripción del problema.</a:t>
            </a:r>
          </a:p>
        </p:txBody>
      </p:sp>
      <p:sp>
        <p:nvSpPr>
          <p:cNvPr id="11" name="aside-line-1">
            <a:extLst xmlns:a="http://schemas.openxmlformats.org/drawingml/2006/main">
              <a:ext uri="{FF2B5EF4-FFF2-40B4-BE49-F238E27FC236}">
                <a16:creationId xmlns:a16="http://schemas.microsoft.com/office/drawing/2014/main" id="{B8358E2C-601F-4778-B375-C453393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00450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2" name="aside-1">
            <a:extLst xmlns:a="http://schemas.openxmlformats.org/drawingml/2006/main">
              <a:ext uri="{FF2B5EF4-FFF2-40B4-BE49-F238E27FC236}">
                <a16:creationId xmlns:a16="http://schemas.microsoft.com/office/drawing/2014/main" id="{7A80DFB7-3B89-4463-8A96-ACE8D4F3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Ubicación del barco y archivos adjuntos.</a:t>
            </a:r>
          </a:p>
        </p:txBody>
      </p:sp>
      <p:sp>
        <p:nvSpPr>
          <p:cNvPr id="13" name="aside-line-2">
            <a:extLst xmlns:a="http://schemas.openxmlformats.org/drawingml/2006/main">
              <a:ext uri="{FF2B5EF4-FFF2-40B4-BE49-F238E27FC236}">
                <a16:creationId xmlns:a16="http://schemas.microsoft.com/office/drawing/2014/main" id="{F2DED1FF-BC41-4646-8577-622C9550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33925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  <p:sp>
        <p:nvSpPr>
          <p:cNvPr id="14" name="aside-2">
            <a:extLst xmlns:a="http://schemas.openxmlformats.org/drawingml/2006/main">
              <a:ext uri="{FF2B5EF4-FFF2-40B4-BE49-F238E27FC236}">
                <a16:creationId xmlns:a16="http://schemas.microsoft.com/office/drawing/2014/main" id="{993DDF98-BA73-474E-A7CD-BC1916D1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6727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Historial de reportes para el cliente.</a:t>
            </a:r>
          </a:p>
        </p:txBody>
      </p:sp>
    </p:spTree>
    <p:extLst>
      <p:ext uri="{BB962C8B-B14F-4D97-AF65-F5344CB8AC3E}">
        <p14:creationId xmlns:p14="http://schemas.microsoft.com/office/powerpoint/2010/main" val="15945091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B20D03C1-510D-42D9-947E-EBB7DAA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SERVICIO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693C67-56B9-40F3-B106-5A7E71E8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Flota entregada y tickets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C09352B-F097-4BAB-80D5-A7D73E5F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Postventa interna reúne unidades, ubicaciones y reportes para seguir la atención después de entregar el barco.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D1BAF15-1D1F-4E9C-99BC-891F2116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D768E77-242F-4E59-ABB4-B0190CA5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6FF482-0D08-46A4-8B46-553192C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9637A032-85F7-4DAA-A399-1449CEC7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D2BE77A7-5E94-4D66-9E8E-1C381AB2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Vista de barcos entregados.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5C82F61B-9B0E-4B26-B3E9-27C39354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B72E2DAE-149C-47DF-9BE7-B0A96636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7E92C081-EE5C-4FFB-9CB9-3B8223F0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Tickets con estado y seguimiento.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0FBEA7C3-0D4F-4252-882C-827FD99C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86B2B940-A4C5-4268-AF98-8BB663EA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1FFBDF73-ADB8-4312-A0D7-40D9B515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Información asociada al cliente y a su unidad.</a:t>
            </a:r>
          </a:p>
        </p:txBody>
      </p:sp>
    </p:spTree>
    <p:extLst>
      <p:ext uri="{BB962C8B-B14F-4D97-AF65-F5344CB8AC3E}">
        <p14:creationId xmlns:p14="http://schemas.microsoft.com/office/powerpoint/2010/main" val="713346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AA059D1E-645B-4955-BAA8-A8EAAB4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OPERACIÓN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BF6C35-C0F8-4B5D-B40A-E0E790F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Roles, procedimientos y ayuda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6223F103-6927-44FC-B814-EC027C17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Cada equipo entra a las pantallas que le corresponden. Los procedimientos y tickets de ayuda quedan dentro del sistema.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B31C22A-3A63-47B1-A01C-D0553850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DFE60A6-9C79-4731-8653-821182A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E29760-9B35-46EE-B83E-0A3E35E6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A8EA7887-F7F6-4670-A13D-1FF37551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A1D5B2DA-BDD1-46B1-9689-0B50512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Acceso por rol y sede.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3DFC6FD7-9C96-4346-BF00-AE729E12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5EA3F59E-7F99-4D6B-BB9F-18F1F06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A2235938-20D2-4668-87E0-B8D41866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Biblioteca de procedimientos operativos.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BEEC767E-96A1-4069-885A-1D91F9D9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6086A1B5-1BA8-439D-8A1A-B7A8413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432E8342-B3EB-436F-8970-B0BA6678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Configuración de usuarios, clientes y modelos.</a:t>
            </a:r>
          </a:p>
        </p:txBody>
      </p:sp>
    </p:spTree>
    <p:extLst>
      <p:ext uri="{BB962C8B-B14F-4D97-AF65-F5344CB8AC3E}">
        <p14:creationId xmlns:p14="http://schemas.microsoft.com/office/powerpoint/2010/main" val="10253547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EA7D7B95-9783-4CF4-8855-14474A64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MAPA DE MÓDULOS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0DCF96-426D-4EE0-9BC9-96D5C549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Producción y coordinación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A620E774-5381-475B-8A9D-A32F6EA1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Un recorrido según la tarea de cada equipo.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B2F33A5-1DE4-4919-9C57-B88681F6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1A8AF33-8FD8-40A3-89D5-E72DBCBE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2C37793-4375-422C-8FC1-9C5F001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mod-0-0">
            <a:extLst xmlns:a="http://schemas.openxmlformats.org/drawingml/2006/main">
              <a:ext uri="{FF2B5EF4-FFF2-40B4-BE49-F238E27FC236}">
                <a16:creationId xmlns:a16="http://schemas.microsoft.com/office/drawing/2014/main" id="{0C20C27E-7A96-4D42-A170-9D87B12A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Obras · etapas, tareas, Gantt y fechas</a:t>
            </a:r>
          </a:p>
        </p:txBody>
      </p:sp>
      <p:sp>
        <p:nvSpPr>
          <p:cNvPr id="8" name="mod-rule-0-0">
            <a:extLst xmlns:a="http://schemas.openxmlformats.org/drawingml/2006/main">
              <a:ext uri="{FF2B5EF4-FFF2-40B4-BE49-F238E27FC236}">
                <a16:creationId xmlns:a16="http://schemas.microsoft.com/office/drawing/2014/main" id="{2C569EB6-A391-4418-B92B-BFE6D24E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9" name="mod-0-1">
            <a:extLst xmlns:a="http://schemas.openxmlformats.org/drawingml/2006/main">
              <a:ext uri="{FF2B5EF4-FFF2-40B4-BE49-F238E27FC236}">
                <a16:creationId xmlns:a16="http://schemas.microsoft.com/office/drawing/2014/main" id="{EC4F986A-70B3-4555-8360-4F200AF7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Laminación Pampa y Chubut · seguimiento por sede</a:t>
            </a:r>
          </a:p>
        </p:txBody>
      </p:sp>
      <p:sp>
        <p:nvSpPr>
          <p:cNvPr id="10" name="mod-rule-0-1">
            <a:extLst xmlns:a="http://schemas.openxmlformats.org/drawingml/2006/main">
              <a:ext uri="{FF2B5EF4-FFF2-40B4-BE49-F238E27FC236}">
                <a16:creationId xmlns:a16="http://schemas.microsoft.com/office/drawing/2014/main" id="{CD6DFCE6-9325-4536-AAD0-F3A1670C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1" name="mod-0-2">
            <a:extLst xmlns:a="http://schemas.openxmlformats.org/drawingml/2006/main">
              <a:ext uri="{FF2B5EF4-FFF2-40B4-BE49-F238E27FC236}">
                <a16:creationId xmlns:a16="http://schemas.microsoft.com/office/drawing/2014/main" id="{16E565FD-25AD-4AEE-AC17-2B63ACE9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Obras de laminación · avance por unidad</a:t>
            </a:r>
          </a:p>
        </p:txBody>
      </p:sp>
      <p:sp>
        <p:nvSpPr>
          <p:cNvPr id="12" name="mod-rule-0-2">
            <a:extLst xmlns:a="http://schemas.openxmlformats.org/drawingml/2006/main">
              <a:ext uri="{FF2B5EF4-FFF2-40B4-BE49-F238E27FC236}">
                <a16:creationId xmlns:a16="http://schemas.microsoft.com/office/drawing/2014/main" id="{30B9DD7B-7261-443D-A7C1-88DD202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mod-0-3">
            <a:extLst xmlns:a="http://schemas.openxmlformats.org/drawingml/2006/main">
              <a:ext uri="{FF2B5EF4-FFF2-40B4-BE49-F238E27FC236}">
                <a16:creationId xmlns:a16="http://schemas.microsoft.com/office/drawing/2014/main" id="{BEE7BB40-0EB3-4AED-A868-20816F82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Plantillas de laminación · proceso reutilizable</a:t>
            </a:r>
          </a:p>
        </p:txBody>
      </p:sp>
      <p:sp>
        <p:nvSpPr>
          <p:cNvPr id="14" name="mod-rule-0-3">
            <a:extLst xmlns:a="http://schemas.openxmlformats.org/drawingml/2006/main">
              <a:ext uri="{FF2B5EF4-FFF2-40B4-BE49-F238E27FC236}">
                <a16:creationId xmlns:a16="http://schemas.microsoft.com/office/drawing/2014/main" id="{DEF11ADE-ECEF-48C1-8C77-58D7C1A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5" name="mod-0-4">
            <a:extLst xmlns:a="http://schemas.openxmlformats.org/drawingml/2006/main">
              <a:ext uri="{FF2B5EF4-FFF2-40B4-BE49-F238E27FC236}">
                <a16:creationId xmlns:a16="http://schemas.microsoft.com/office/drawing/2014/main" id="{C25A7B06-89A1-49F8-8D94-E2C11A0F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Maderas · existencias y movimientos</a:t>
            </a:r>
          </a:p>
        </p:txBody>
      </p:sp>
      <p:sp>
        <p:nvSpPr>
          <p:cNvPr id="16" name="mod-rule-0-4">
            <a:extLst xmlns:a="http://schemas.openxmlformats.org/drawingml/2006/main">
              <a:ext uri="{FF2B5EF4-FFF2-40B4-BE49-F238E27FC236}">
                <a16:creationId xmlns:a16="http://schemas.microsoft.com/office/drawing/2014/main" id="{E544095F-7EF7-47FA-939E-3F7022CA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7" name="mod-1-0">
            <a:extLst xmlns:a="http://schemas.openxmlformats.org/drawingml/2006/main">
              <a:ext uri="{FF2B5EF4-FFF2-40B4-BE49-F238E27FC236}">
                <a16:creationId xmlns:a16="http://schemas.microsoft.com/office/drawing/2014/main" id="{9F354362-F954-429F-A6DD-09D65E18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431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Muebles · órdenes de trabajo</a:t>
            </a:r>
          </a:p>
        </p:txBody>
      </p:sp>
      <p:sp>
        <p:nvSpPr>
          <p:cNvPr id="18" name="mod-rule-1-0">
            <a:extLst xmlns:a="http://schemas.openxmlformats.org/drawingml/2006/main">
              <a:ext uri="{FF2B5EF4-FFF2-40B4-BE49-F238E27FC236}">
                <a16:creationId xmlns:a16="http://schemas.microsoft.com/office/drawing/2014/main" id="{2818C493-FFAB-4097-860F-581CADCB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81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9" name="mod-1-1">
            <a:extLst xmlns:a="http://schemas.openxmlformats.org/drawingml/2006/main">
              <a:ext uri="{FF2B5EF4-FFF2-40B4-BE49-F238E27FC236}">
                <a16:creationId xmlns:a16="http://schemas.microsoft.com/office/drawing/2014/main" id="{7FDC3BE6-3D34-4188-8D02-CEF628C7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337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Tornería · circuito y materiales</a:t>
            </a:r>
          </a:p>
        </p:txBody>
      </p:sp>
      <p:sp>
        <p:nvSpPr>
          <p:cNvPr id="20" name="mod-rule-1-1">
            <a:extLst xmlns:a="http://schemas.openxmlformats.org/drawingml/2006/main">
              <a:ext uri="{FF2B5EF4-FFF2-40B4-BE49-F238E27FC236}">
                <a16:creationId xmlns:a16="http://schemas.microsoft.com/office/drawing/2014/main" id="{FC0FF1A4-AB4B-492D-9E25-6FE23226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71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21" name="mod-1-2">
            <a:extLst xmlns:a="http://schemas.openxmlformats.org/drawingml/2006/main">
              <a:ext uri="{FF2B5EF4-FFF2-40B4-BE49-F238E27FC236}">
                <a16:creationId xmlns:a16="http://schemas.microsoft.com/office/drawing/2014/main" id="{6662CECE-A2EB-411E-86E0-15175ACD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242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Marmolería · procesos por obra</a:t>
            </a:r>
          </a:p>
        </p:txBody>
      </p:sp>
      <p:sp>
        <p:nvSpPr>
          <p:cNvPr id="22" name="mod-rule-1-2">
            <a:extLst xmlns:a="http://schemas.openxmlformats.org/drawingml/2006/main">
              <a:ext uri="{FF2B5EF4-FFF2-40B4-BE49-F238E27FC236}">
                <a16:creationId xmlns:a16="http://schemas.microsoft.com/office/drawing/2014/main" id="{FDC00B92-0F39-43CA-8CDC-C951EBA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62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23" name="mod-1-3">
            <a:extLst xmlns:a="http://schemas.openxmlformats.org/drawingml/2006/main">
              <a:ext uri="{FF2B5EF4-FFF2-40B4-BE49-F238E27FC236}">
                <a16:creationId xmlns:a16="http://schemas.microsoft.com/office/drawing/2014/main" id="{F24C0803-C961-4EDE-9850-78F9BCBD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148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Logística y calendario · traslados y fechas</a:t>
            </a:r>
          </a:p>
        </p:txBody>
      </p:sp>
      <p:sp>
        <p:nvSpPr>
          <p:cNvPr id="24" name="mod-rule-1-3">
            <a:extLst xmlns:a="http://schemas.openxmlformats.org/drawingml/2006/main">
              <a:ext uri="{FF2B5EF4-FFF2-40B4-BE49-F238E27FC236}">
                <a16:creationId xmlns:a16="http://schemas.microsoft.com/office/drawing/2014/main" id="{4FBFE37B-6311-42C8-8BE6-647F8F99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52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25" name="mod-1-4">
            <a:extLst xmlns:a="http://schemas.openxmlformats.org/drawingml/2006/main">
              <a:ext uri="{FF2B5EF4-FFF2-40B4-BE49-F238E27FC236}">
                <a16:creationId xmlns:a16="http://schemas.microsoft.com/office/drawing/2014/main" id="{897F4CB5-9348-43C0-B32E-36640D08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053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Memorias · configuración de la unidad</a:t>
            </a:r>
          </a:p>
        </p:txBody>
      </p:sp>
      <p:sp>
        <p:nvSpPr>
          <p:cNvPr id="26" name="mod-rule-1-4">
            <a:extLst xmlns:a="http://schemas.openxmlformats.org/drawingml/2006/main">
              <a:ext uri="{FF2B5EF4-FFF2-40B4-BE49-F238E27FC236}">
                <a16:creationId xmlns:a16="http://schemas.microsoft.com/office/drawing/2014/main" id="{2DAC6F9E-9313-4A2C-A05B-64714F8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143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624311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">
            <a:extLst xmlns:a="http://schemas.openxmlformats.org/drawingml/2006/main">
              <a:ext uri="{FF2B5EF4-FFF2-40B4-BE49-F238E27FC236}">
                <a16:creationId xmlns:a16="http://schemas.microsoft.com/office/drawing/2014/main" id="{D45ACF35-9400-4F7B-A9C1-7C94AF3F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MAPA DE MÓDULOS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903FE2-8769-4A52-A97A-9BBE4706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Abastecimiento, gestión y servicio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3DA0F9E-8FEC-4775-9590-EBC94197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Las decisiones y registros vuelven a la obra.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DE5738F-1028-4A22-AE7D-5489697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AD25B7D-F5E1-4E3A-B7D0-D0E46CE8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875FB5B-C202-4B0B-A5E1-BC27A353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mod-0-0">
            <a:extLst xmlns:a="http://schemas.openxmlformats.org/drawingml/2006/main">
              <a:ext uri="{FF2B5EF4-FFF2-40B4-BE49-F238E27FC236}">
                <a16:creationId xmlns:a16="http://schemas.microsoft.com/office/drawing/2014/main" id="{69E130B2-54B0-4BED-9092-877CD3B2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Catálogo maestro · identidad de producto</a:t>
            </a:r>
          </a:p>
        </p:txBody>
      </p:sp>
      <p:sp>
        <p:nvSpPr>
          <p:cNvPr id="8" name="mod-rule-0-0">
            <a:extLst xmlns:a="http://schemas.openxmlformats.org/drawingml/2006/main">
              <a:ext uri="{FF2B5EF4-FFF2-40B4-BE49-F238E27FC236}">
                <a16:creationId xmlns:a16="http://schemas.microsoft.com/office/drawing/2014/main" id="{AAA0F9A5-9D54-486A-BFEC-4E16333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9" name="mod-0-1">
            <a:extLst xmlns:a="http://schemas.openxmlformats.org/drawingml/2006/main">
              <a:ext uri="{FF2B5EF4-FFF2-40B4-BE49-F238E27FC236}">
                <a16:creationId xmlns:a16="http://schemas.microsoft.com/office/drawing/2014/main" id="{4209BF94-45B5-41F7-98B5-53094D2B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Materiales · matrices y listas por obra</a:t>
            </a:r>
          </a:p>
        </p:txBody>
      </p:sp>
      <p:sp>
        <p:nvSpPr>
          <p:cNvPr id="10" name="mod-rule-0-1">
            <a:extLst xmlns:a="http://schemas.openxmlformats.org/drawingml/2006/main">
              <a:ext uri="{FF2B5EF4-FFF2-40B4-BE49-F238E27FC236}">
                <a16:creationId xmlns:a16="http://schemas.microsoft.com/office/drawing/2014/main" id="{6289969B-96B8-44DA-A69F-CEBCF187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1" name="mod-0-2">
            <a:extLst xmlns:a="http://schemas.openxmlformats.org/drawingml/2006/main">
              <a:ext uri="{FF2B5EF4-FFF2-40B4-BE49-F238E27FC236}">
                <a16:creationId xmlns:a16="http://schemas.microsoft.com/office/drawing/2014/main" id="{DF86AFB5-598B-4333-B1FB-2973ADA3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Compras · solicitudes y estados</a:t>
            </a:r>
          </a:p>
        </p:txBody>
      </p:sp>
      <p:sp>
        <p:nvSpPr>
          <p:cNvPr id="12" name="mod-rule-0-2">
            <a:extLst xmlns:a="http://schemas.openxmlformats.org/drawingml/2006/main">
              <a:ext uri="{FF2B5EF4-FFF2-40B4-BE49-F238E27FC236}">
                <a16:creationId xmlns:a16="http://schemas.microsoft.com/office/drawing/2014/main" id="{6671B072-D1FC-4A7B-82EB-0D5C294C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mod-0-3">
            <a:extLst xmlns:a="http://schemas.openxmlformats.org/drawingml/2006/main">
              <a:ext uri="{FF2B5EF4-FFF2-40B4-BE49-F238E27FC236}">
                <a16:creationId xmlns:a16="http://schemas.microsoft.com/office/drawing/2014/main" id="{794D89EF-BCBA-4CE6-993E-978F59D6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Compras por etapa · plantillas y tandas</a:t>
            </a:r>
          </a:p>
        </p:txBody>
      </p:sp>
      <p:sp>
        <p:nvSpPr>
          <p:cNvPr id="14" name="mod-rule-0-3">
            <a:extLst xmlns:a="http://schemas.openxmlformats.org/drawingml/2006/main">
              <a:ext uri="{FF2B5EF4-FFF2-40B4-BE49-F238E27FC236}">
                <a16:creationId xmlns:a16="http://schemas.microsoft.com/office/drawing/2014/main" id="{92ACF310-0E0D-4BEC-BFA9-A13BB59C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5" name="mod-0-4">
            <a:extLst xmlns:a="http://schemas.openxmlformats.org/drawingml/2006/main">
              <a:ext uri="{FF2B5EF4-FFF2-40B4-BE49-F238E27FC236}">
                <a16:creationId xmlns:a16="http://schemas.microsoft.com/office/drawing/2014/main" id="{349CCB60-135C-4692-A0ED-7A5707F3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Recepción · entradas e incidencias</a:t>
            </a:r>
          </a:p>
        </p:txBody>
      </p:sp>
      <p:sp>
        <p:nvSpPr>
          <p:cNvPr id="16" name="mod-rule-0-4">
            <a:extLst xmlns:a="http://schemas.openxmlformats.org/drawingml/2006/main">
              <a:ext uri="{FF2B5EF4-FFF2-40B4-BE49-F238E27FC236}">
                <a16:creationId xmlns:a16="http://schemas.microsoft.com/office/drawing/2014/main" id="{37F51976-9B32-40B2-995D-B3C714BB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7" name="mod-0-5">
            <a:extLst xmlns:a="http://schemas.openxmlformats.org/drawingml/2006/main">
              <a:ext uri="{FF2B5EF4-FFF2-40B4-BE49-F238E27FC236}">
                <a16:creationId xmlns:a16="http://schemas.microsoft.com/office/drawing/2014/main" id="{FE86C2D7-D6FC-4028-8118-B69A5A51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Stock · ubicaciones y mínimos</a:t>
            </a:r>
          </a:p>
        </p:txBody>
      </p:sp>
      <p:sp>
        <p:nvSpPr>
          <p:cNvPr id="18" name="mod-rule-0-5">
            <a:extLst xmlns:a="http://schemas.openxmlformats.org/drawingml/2006/main">
              <a:ext uri="{FF2B5EF4-FFF2-40B4-BE49-F238E27FC236}">
                <a16:creationId xmlns:a16="http://schemas.microsoft.com/office/drawing/2014/main" id="{3A903A0D-DC97-40B9-A582-F61A4496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9" name="mod-1-0">
            <a:extLst xmlns:a="http://schemas.openxmlformats.org/drawingml/2006/main">
              <a:ext uri="{FF2B5EF4-FFF2-40B4-BE49-F238E27FC236}">
                <a16:creationId xmlns:a16="http://schemas.microsoft.com/office/drawing/2014/main" id="{1D94D2E4-E639-4453-8258-98EF35DB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431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Movimientos · entradas, salidas y devoluciones</a:t>
            </a:r>
          </a:p>
        </p:txBody>
      </p:sp>
      <p:sp>
        <p:nvSpPr>
          <p:cNvPr id="20" name="mod-rule-1-0">
            <a:extLst xmlns:a="http://schemas.openxmlformats.org/drawingml/2006/main">
              <a:ext uri="{FF2B5EF4-FFF2-40B4-BE49-F238E27FC236}">
                <a16:creationId xmlns:a16="http://schemas.microsoft.com/office/drawing/2014/main" id="{2B4BE629-B5A7-43C9-9C46-0D6B1101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81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21" name="mod-1-1">
            <a:extLst xmlns:a="http://schemas.openxmlformats.org/drawingml/2006/main">
              <a:ext uri="{FF2B5EF4-FFF2-40B4-BE49-F238E27FC236}">
                <a16:creationId xmlns:a16="http://schemas.microsoft.com/office/drawing/2014/main" id="{B5150B74-3825-4E8B-8427-5690FAEF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337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Solicitudes, escáner y NFC · trabajo de pañol</a:t>
            </a:r>
          </a:p>
        </p:txBody>
      </p:sp>
      <p:sp>
        <p:nvSpPr>
          <p:cNvPr id="22" name="mod-rule-1-1">
            <a:extLst xmlns:a="http://schemas.openxmlformats.org/drawingml/2006/main">
              <a:ext uri="{FF2B5EF4-FFF2-40B4-BE49-F238E27FC236}">
                <a16:creationId xmlns:a16="http://schemas.microsoft.com/office/drawing/2014/main" id="{7F4A0EE9-95DE-43B3-97A3-E0DACA9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71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23" name="mod-1-2">
            <a:extLst xmlns:a="http://schemas.openxmlformats.org/drawingml/2006/main">
              <a:ext uri="{FF2B5EF4-FFF2-40B4-BE49-F238E27FC236}">
                <a16:creationId xmlns:a16="http://schemas.microsoft.com/office/drawing/2014/main" id="{DE392655-BFB1-434C-8969-B229C2B8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242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Motores y grupos · equipos por barco</a:t>
            </a:r>
          </a:p>
        </p:txBody>
      </p:sp>
      <p:sp>
        <p:nvSpPr>
          <p:cNvPr id="24" name="mod-rule-1-2">
            <a:extLst xmlns:a="http://schemas.openxmlformats.org/drawingml/2006/main">
              <a:ext uri="{FF2B5EF4-FFF2-40B4-BE49-F238E27FC236}">
                <a16:creationId xmlns:a16="http://schemas.microsoft.com/office/drawing/2014/main" id="{5259C999-6209-4D9C-8744-9BF9B4C1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62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25" name="mod-1-3">
            <a:extLst xmlns:a="http://schemas.openxmlformats.org/drawingml/2006/main">
              <a:ext uri="{FF2B5EF4-FFF2-40B4-BE49-F238E27FC236}">
                <a16:creationId xmlns:a16="http://schemas.microsoft.com/office/drawing/2014/main" id="{05D81A6C-86B6-4099-9DE5-5AB3589B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148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Precios y costo · cobertura y rubros</a:t>
            </a:r>
          </a:p>
        </p:txBody>
      </p:sp>
      <p:sp>
        <p:nvSpPr>
          <p:cNvPr id="26" name="mod-rule-1-3">
            <a:extLst xmlns:a="http://schemas.openxmlformats.org/drawingml/2006/main">
              <a:ext uri="{FF2B5EF4-FFF2-40B4-BE49-F238E27FC236}">
                <a16:creationId xmlns:a16="http://schemas.microsoft.com/office/drawing/2014/main" id="{D71DA16B-B226-47CC-A183-3BDF2CD3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52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27" name="mod-1-4">
            <a:extLst xmlns:a="http://schemas.openxmlformats.org/drawingml/2006/main">
              <a:ext uri="{FF2B5EF4-FFF2-40B4-BE49-F238E27FC236}">
                <a16:creationId xmlns:a16="http://schemas.microsoft.com/office/drawing/2014/main" id="{186F271B-E861-40A3-BB94-F624F3BE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0535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RRHH · asistencia y oficios</a:t>
            </a:r>
          </a:p>
        </p:txBody>
      </p:sp>
      <p:sp>
        <p:nvSpPr>
          <p:cNvPr id="28" name="mod-rule-1-4">
            <a:extLst xmlns:a="http://schemas.openxmlformats.org/drawingml/2006/main">
              <a:ext uri="{FF2B5EF4-FFF2-40B4-BE49-F238E27FC236}">
                <a16:creationId xmlns:a16="http://schemas.microsoft.com/office/drawing/2014/main" id="{2D9BC345-D5FD-4BD8-8BFB-C7FF3D7F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143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29" name="mod-1-5">
            <a:extLst xmlns:a="http://schemas.openxmlformats.org/drawingml/2006/main">
              <a:ext uri="{FF2B5EF4-FFF2-40B4-BE49-F238E27FC236}">
                <a16:creationId xmlns:a16="http://schemas.microsoft.com/office/drawing/2014/main" id="{AE084E63-5131-4229-87F5-235C25C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295900"/>
            <a:ext cx="512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Postventa y clientes · tickets y manual</a:t>
            </a:r>
          </a:p>
        </p:txBody>
      </p:sp>
      <p:sp>
        <p:nvSpPr>
          <p:cNvPr id="30" name="mod-rule-1-5">
            <a:extLst xmlns:a="http://schemas.openxmlformats.org/drawingml/2006/main">
              <a:ext uri="{FF2B5EF4-FFF2-40B4-BE49-F238E27FC236}">
                <a16:creationId xmlns:a16="http://schemas.microsoft.com/office/drawing/2014/main" id="{FCD485AE-FCBF-4470-923B-6704704E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734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537243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54FCCDC1-D702-40DC-870F-9AA6E33A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SIGUIENTE PASO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FE1624-BE32-43BB-8AD1-7BFAA2C3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896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2B36"/>
                </a:solidFill>
                <a:latin typeface="Arial"/>
                <a:ea typeface="Arial"/>
                <a:cs typeface="Arial"/>
              </a:rPr>
              <a:t>Una demostración con una obra de ustedes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A0003A0-086B-44F9-9DC4-6388546D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En 30 minutos podemos seguir una obra desde su planificación hasta un retiro del pañol y una consulta del cliente.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E0AD53D-66B6-46C9-A334-A1DEB499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64FB052-2CB3-44E2-BCBB-1A06E931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874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C459027-8052-42D5-9EB8-66BDE3CD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8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index-0">
            <a:extLst xmlns:a="http://schemas.openxmlformats.org/drawingml/2006/main">
              <a:ext uri="{FF2B5EF4-FFF2-40B4-BE49-F238E27FC236}">
                <a16:creationId xmlns:a16="http://schemas.microsoft.com/office/drawing/2014/main" id="{A1C0CC05-3C07-4D8F-B4AF-00BB62F4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tem-0">
            <a:extLst xmlns:a="http://schemas.openxmlformats.org/drawingml/2006/main">
              <a:ext uri="{FF2B5EF4-FFF2-40B4-BE49-F238E27FC236}">
                <a16:creationId xmlns:a16="http://schemas.microsoft.com/office/drawing/2014/main" id="{844E7B27-3D2D-46B2-B0A7-2E95A915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Elegimos un modelo y una obra tipo.</a:t>
            </a:r>
          </a:p>
        </p:txBody>
      </p:sp>
      <p:sp>
        <p:nvSpPr>
          <p:cNvPr id="9" name="item-rule-0">
            <a:extLst xmlns:a="http://schemas.openxmlformats.org/drawingml/2006/main">
              <a:ext uri="{FF2B5EF4-FFF2-40B4-BE49-F238E27FC236}">
                <a16:creationId xmlns:a16="http://schemas.microsoft.com/office/drawing/2014/main" id="{79F2F966-4B19-4213-99C3-EACAC2A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0" name="index-1">
            <a:extLst xmlns:a="http://schemas.openxmlformats.org/drawingml/2006/main">
              <a:ext uri="{FF2B5EF4-FFF2-40B4-BE49-F238E27FC236}">
                <a16:creationId xmlns:a16="http://schemas.microsoft.com/office/drawing/2014/main" id="{61F2F42E-D62C-4772-AC90-6948F6D3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30088B70-8028-43B3-80E7-7A3747C4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Seguimos una necesidad hasta compra y recepción.</a:t>
            </a:r>
          </a:p>
        </p:txBody>
      </p:sp>
      <p:sp>
        <p:nvSpPr>
          <p:cNvPr id="12" name="item-rule-1">
            <a:extLst xmlns:a="http://schemas.openxmlformats.org/drawingml/2006/main">
              <a:ext uri="{FF2B5EF4-FFF2-40B4-BE49-F238E27FC236}">
                <a16:creationId xmlns:a16="http://schemas.microsoft.com/office/drawing/2014/main" id="{7F0B659E-0D5A-42EA-AF33-5D3FD61E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C9"/>
          </a:solidFill>
          <a:ln xmlns:a="http://schemas.openxmlformats.org/drawingml/2006/main" w="0">
            <a:noFill/>
          </a:ln>
        </p:spPr>
      </p:sp>
      <p:sp>
        <p:nvSpPr>
          <p:cNvPr id="13" name="index-2">
            <a:extLst xmlns:a="http://schemas.openxmlformats.org/drawingml/2006/main">
              <a:ext uri="{FF2B5EF4-FFF2-40B4-BE49-F238E27FC236}">
                <a16:creationId xmlns:a16="http://schemas.microsoft.com/office/drawing/2014/main" id="{369EF681-F76F-4BB6-9392-A7223CAC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0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EFDDDC3F-ED75-4C0E-8EEE-3B928A51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B36"/>
                </a:solidFill>
                <a:latin typeface="Arial"/>
                <a:ea typeface="Arial"/>
                <a:cs typeface="Arial"/>
              </a:rPr>
              <a:t>Vemos el retiro, el historial y el portal del propietario.</a:t>
            </a:r>
          </a:p>
        </p:txBody>
      </p:sp>
      <p:sp>
        <p:nvSpPr>
          <p:cNvPr id="15" name="demo-length">
            <a:extLst xmlns:a="http://schemas.openxmlformats.org/drawingml/2006/main">
              <a:ext uri="{FF2B5EF4-FFF2-40B4-BE49-F238E27FC236}">
                <a16:creationId xmlns:a16="http://schemas.microsoft.com/office/drawing/2014/main" id="{8B54CA7A-7574-4840-8BD8-49A44DEA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3175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30 MINUTOS</a:t>
            </a:r>
          </a:p>
        </p:txBody>
      </p:sp>
    </p:spTree>
    <p:extLst>
      <p:ext uri="{BB962C8B-B14F-4D97-AF65-F5344CB8AC3E}">
        <p14:creationId xmlns:p14="http://schemas.microsoft.com/office/powerpoint/2010/main" val="1545763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2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094FC11-784D-4870-9052-0F5B581D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B9B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EB9BE"/>
                </a:solidFill>
                <a:latin typeface="Arial"/>
                <a:ea typeface="Arial"/>
                <a:cs typeface="Arial"/>
              </a:rPr>
              <a:t>KLASE A</a:t>
            </a:r>
          </a:p>
        </p:txBody>
      </p:sp>
      <p:sp>
        <p:nvSpPr>
          <p:cNvPr id="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5CAF359-8523-419B-B878-4CE0213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EB9B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B9BE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closing-label">
            <a:extLst xmlns:a="http://schemas.openxmlformats.org/drawingml/2006/main">
              <a:ext uri="{FF2B5EF4-FFF2-40B4-BE49-F238E27FC236}">
                <a16:creationId xmlns:a16="http://schemas.microsoft.com/office/drawing/2014/main" id="{036EDB44-B2F0-4F60-A2C1-53EDB13B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AB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3AB9E"/>
                </a:solidFill>
                <a:latin typeface="Arial"/>
                <a:ea typeface="Arial"/>
                <a:cs typeface="Arial"/>
              </a:rPr>
              <a:t>DEMOSTRACIÓN GUIADA</a:t>
            </a:r>
          </a:p>
        </p:txBody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FC5D625-E3F9-4E22-BEC4-0D2AD2F8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Veamos cómo trabaja su astillero</a:t>
            </a:r>
          </a:p>
        </p:txBody>
      </p:sp>
      <p:sp>
        <p:nvSpPr>
          <p:cNvPr id="5" name="closing-lead">
            <a:extLst xmlns:a="http://schemas.openxmlformats.org/drawingml/2006/main">
              <a:ext uri="{FF2B5EF4-FFF2-40B4-BE49-F238E27FC236}">
                <a16:creationId xmlns:a16="http://schemas.microsoft.com/office/drawing/2014/main" id="{2D611C68-A3BD-45F7-95C3-C31C674D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8477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D1D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D1D1"/>
                </a:solidFill>
                <a:latin typeface="Arial"/>
                <a:ea typeface="Arial"/>
                <a:cs typeface="Arial"/>
              </a:rPr>
              <a:t>La mejor prueba es recorrer un proceso suyo y comprobar qué información quedaría disponible para cada equipo.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75fc0a5a14320"/>
          <a:stretch xmlns:a="http://schemas.openxmlformats.org/drawingml/2006/main"/>
        </p:blipFill>
        <p:spPr>
          <a:xfrm xmlns:a="http://schemas.openxmlformats.org/drawingml/2006/main">
            <a:off x="9007093" y="4429125"/>
            <a:ext cx="2083564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1D50519-EEC6-4B81-9264-401CBAAF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43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AB9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03700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2026-09-30T10:44:26.5620000Z</dcterms:created>
  <dcterms:modified xsi:type="dcterms:W3CDTF">2026-09-30T10:44:26.5620000Z</dcterms:modified>
</coreProperties>
</file>