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737360"/>
          </a:xfrm>
          <a:prstGeom prst="rect">
            <a:avLst/>
          </a:prstGeom>
          <a:solidFill>
            <a:srgbClr val="15263D"/>
          </a:solidFill>
          <a:ln/>
        </p:spPr>
      </p:sp>
      <p:pic>
        <p:nvPicPr>
          <p:cNvPr id="3" name="Image 0" descr="D:\proyectos\klasea-stock\_w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84168" y="1417320"/>
            <a:ext cx="4023360" cy="12046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2788920"/>
            <a:ext cx="121916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spc="1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KLASEA STOCK</a:t>
            </a:r>
            <a:endParaRPr lang="en-US" sz="5600" dirty="0"/>
          </a:p>
        </p:txBody>
      </p:sp>
      <p:sp>
        <p:nvSpPr>
          <p:cNvPr id="5" name="Text 2"/>
          <p:cNvSpPr/>
          <p:nvPr/>
        </p:nvSpPr>
        <p:spPr>
          <a:xfrm>
            <a:off x="0" y="388620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CDD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Gestión Interna del Astillero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0" y="452628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A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Astillero Klase A   ·   Junio 2026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0" y="6263640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8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interna  ·  Confidencial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proyectos\klasea-stock\_k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3015" y="411480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10545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problema que resolvimos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48640" y="109728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operación dependía de información fragmentada y procesos manuales.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548640" y="1828800"/>
            <a:ext cx="5349240" cy="4297680"/>
          </a:xfrm>
          <a:prstGeom prst="roundRect">
            <a:avLst>
              <a:gd name="adj" fmla="val 2128"/>
            </a:avLst>
          </a:prstGeom>
          <a:solidFill>
            <a:srgbClr val="F6F8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94A3B8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68680" y="2103120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ANTES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68680" y="2743200"/>
            <a:ext cx="4709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 por WhatsApp, sin registro ni seguimiento</a:t>
            </a:r>
            <a:endParaRPr lang="en-US" sz="14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Ingresos y egresos anotados en papel o en Excel</a:t>
            </a:r>
            <a:endParaRPr lang="en-US" sz="14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saber el estado de un barco había que preguntar</a:t>
            </a:r>
            <a:endParaRPr lang="en-US" sz="1450" dirty="0"/>
          </a:p>
          <a:p>
            <a:pPr marL="228600" indent="-228600">
              <a:buSzPct val="100000"/>
              <a:buChar char="•"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aviso cuando llegaba un material pedido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291072" y="1828800"/>
            <a:ext cx="5349240" cy="4297680"/>
          </a:xfrm>
          <a:prstGeom prst="roundRect">
            <a:avLst>
              <a:gd name="adj" fmla="val 2128"/>
            </a:avLst>
          </a:prstGeom>
          <a:solidFill>
            <a:srgbClr val="1E3A5F"/>
          </a:solidFill>
          <a:ln/>
          <a:effectLst>
            <a:outerShdw sx="100000" sy="100000" kx="0" ky="0" algn="bl" rotWithShape="0" blurRad="114300" dist="38100" dir="5400000">
              <a:srgbClr val="94A3B8">
                <a:alpha val="2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291072" y="1828800"/>
            <a:ext cx="82296" cy="42976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7"/>
          <p:cNvSpPr/>
          <p:nvPr/>
        </p:nvSpPr>
        <p:spPr>
          <a:xfrm>
            <a:off x="6611112" y="2103120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AHORA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611112" y="2743200"/>
            <a:ext cx="4709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 centralizados, con seguimiento de estado</a:t>
            </a:r>
            <a:endParaRPr lang="en-US" sz="14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920 movimientos digitales, trazables por obra</a:t>
            </a:r>
            <a:endParaRPr lang="en-US" sz="145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producción en tiempo real</a:t>
            </a:r>
            <a:endParaRPr lang="en-US" sz="1450" dirty="0"/>
          </a:p>
          <a:p>
            <a:pPr marL="228600" indent="-228600">
              <a:buSzPct val="100000"/>
              <a:buChar char="•"/>
            </a:pPr>
            <a:r>
              <a:rPr lang="en-US" sz="14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 automáticas a compras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proyectos\klasea-stock\_k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3015" y="411480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10545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¿Qué es Klasea Stock?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48640" y="123444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 sistema de gestión interna hecho </a:t>
            </a:r>
            <a:pPr algn="l"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medida</a:t>
            </a:r>
            <a:pPr algn="l" indent="0" marL="0">
              <a:buNone/>
            </a:pPr>
            <a:r>
              <a:rPr lang="en-US" sz="2600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para el Astillero Klase A.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2651760"/>
            <a:ext cx="3511296" cy="2926080"/>
          </a:xfrm>
          <a:prstGeom prst="roundRect">
            <a:avLst>
              <a:gd name="adj" fmla="val 3125"/>
            </a:avLst>
          </a:prstGeom>
          <a:solidFill>
            <a:srgbClr val="F6F8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94A3B8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914400" y="3017520"/>
            <a:ext cx="777240" cy="77724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30175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914400" y="4023360"/>
            <a:ext cx="27797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 la nube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914400" y="4526280"/>
            <a:ext cx="277977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Accesible desde PC, tablet y celular. Sin instalación de ningún tipo.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340200" y="2651760"/>
            <a:ext cx="3511296" cy="2926080"/>
          </a:xfrm>
          <a:prstGeom prst="roundRect">
            <a:avLst>
              <a:gd name="adj" fmla="val 3125"/>
            </a:avLst>
          </a:prstGeom>
          <a:solidFill>
            <a:srgbClr val="F6F8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94A3B8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05960" y="3017520"/>
            <a:ext cx="777240" cy="77724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2" name="Text 9"/>
          <p:cNvSpPr/>
          <p:nvPr/>
        </p:nvSpPr>
        <p:spPr>
          <a:xfrm>
            <a:off x="4705960" y="30175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4705960" y="4023360"/>
            <a:ext cx="27797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medida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4705960" y="4526280"/>
            <a:ext cx="277977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módulo refleja exactamente cómo trabaja el astillero.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8131759" y="2651760"/>
            <a:ext cx="3511296" cy="2926080"/>
          </a:xfrm>
          <a:prstGeom prst="roundRect">
            <a:avLst>
              <a:gd name="adj" fmla="val 3125"/>
            </a:avLst>
          </a:prstGeom>
          <a:solidFill>
            <a:srgbClr val="F6F8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94A3B8">
                <a:alpha val="2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497519" y="3017520"/>
            <a:ext cx="777240" cy="77724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7" name="Text 14"/>
          <p:cNvSpPr/>
          <p:nvPr/>
        </p:nvSpPr>
        <p:spPr>
          <a:xfrm>
            <a:off x="8497519" y="30175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8497519" y="4023360"/>
            <a:ext cx="27797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 tiempo real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8497519" y="4526280"/>
            <a:ext cx="277977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cambios se sincronizan al instante entre los usuarios.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proyectos\klasea-stock\_k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3015" y="411480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10545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Módulos del sistema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5349240" cy="786384"/>
          </a:xfrm>
          <a:prstGeom prst="roundRect">
            <a:avLst>
              <a:gd name="adj" fmla="val 9302"/>
            </a:avLst>
          </a:prstGeom>
          <a:solidFill>
            <a:srgbClr val="F6F8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94A3B8">
                <a:alpha val="25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548640" y="1417320"/>
            <a:ext cx="64008" cy="7863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3"/>
          <p:cNvSpPr/>
          <p:nvPr/>
        </p:nvSpPr>
        <p:spPr>
          <a:xfrm>
            <a:off x="804672" y="152704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Obras &amp; Gantt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804672" y="183794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Etapas y tareas por barco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416552" y="1664208"/>
            <a:ext cx="1325880" cy="292608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/>
        </p:spPr>
      </p:sp>
      <p:sp>
        <p:nvSpPr>
          <p:cNvPr id="9" name="Text 6"/>
          <p:cNvSpPr/>
          <p:nvPr/>
        </p:nvSpPr>
        <p:spPr>
          <a:xfrm>
            <a:off x="4416552" y="1664208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producción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291072" y="1417320"/>
            <a:ext cx="5349240" cy="786384"/>
          </a:xfrm>
          <a:prstGeom prst="roundRect">
            <a:avLst>
              <a:gd name="adj" fmla="val 9302"/>
            </a:avLst>
          </a:prstGeom>
          <a:solidFill>
            <a:srgbClr val="F6F8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94A3B8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291072" y="1417320"/>
            <a:ext cx="64008" cy="7863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9"/>
          <p:cNvSpPr/>
          <p:nvPr/>
        </p:nvSpPr>
        <p:spPr>
          <a:xfrm>
            <a:off x="6547104" y="152704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Mapa de Producción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6547104" y="183794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barco en qué puesto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10158984" y="1664208"/>
            <a:ext cx="1325880" cy="292608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/>
        </p:spPr>
      </p:sp>
      <p:sp>
        <p:nvSpPr>
          <p:cNvPr id="15" name="Text 12"/>
          <p:cNvSpPr/>
          <p:nvPr/>
        </p:nvSpPr>
        <p:spPr>
          <a:xfrm>
            <a:off x="10158984" y="1664208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producción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48640" y="2295144"/>
            <a:ext cx="5349240" cy="786384"/>
          </a:xfrm>
          <a:prstGeom prst="roundRect">
            <a:avLst>
              <a:gd name="adj" fmla="val 9302"/>
            </a:avLst>
          </a:prstGeom>
          <a:solidFill>
            <a:srgbClr val="F6F8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94A3B8">
                <a:alpha val="2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48640" y="2295144"/>
            <a:ext cx="64008" cy="7863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Text 15"/>
          <p:cNvSpPr/>
          <p:nvPr/>
        </p:nvSpPr>
        <p:spPr>
          <a:xfrm>
            <a:off x="804672" y="240487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Pañol / Inventario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804672" y="27157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Ingresos y egresos por obra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4416552" y="2542032"/>
            <a:ext cx="1325880" cy="292608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/>
        </p:spPr>
      </p:sp>
      <p:sp>
        <p:nvSpPr>
          <p:cNvPr id="21" name="Text 18"/>
          <p:cNvSpPr/>
          <p:nvPr/>
        </p:nvSpPr>
        <p:spPr>
          <a:xfrm>
            <a:off x="4416552" y="254203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producción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6291072" y="2295144"/>
            <a:ext cx="5349240" cy="786384"/>
          </a:xfrm>
          <a:prstGeom prst="roundRect">
            <a:avLst>
              <a:gd name="adj" fmla="val 9302"/>
            </a:avLst>
          </a:prstGeom>
          <a:solidFill>
            <a:srgbClr val="F6F8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94A3B8">
                <a:alpha val="25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291072" y="2295144"/>
            <a:ext cx="64008" cy="7863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4" name="Text 21"/>
          <p:cNvSpPr/>
          <p:nvPr/>
        </p:nvSpPr>
        <p:spPr>
          <a:xfrm>
            <a:off x="6547104" y="240487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Madera</a:t>
            </a:r>
            <a:endParaRPr lang="en-US" sz="1450" dirty="0"/>
          </a:p>
        </p:txBody>
      </p:sp>
      <p:sp>
        <p:nvSpPr>
          <p:cNvPr id="25" name="Text 22"/>
          <p:cNvSpPr/>
          <p:nvPr/>
        </p:nvSpPr>
        <p:spPr>
          <a:xfrm>
            <a:off x="6547104" y="27157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de maderas y pedidos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10158984" y="2542032"/>
            <a:ext cx="1325880" cy="292608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/>
        </p:spPr>
      </p:sp>
      <p:sp>
        <p:nvSpPr>
          <p:cNvPr id="27" name="Text 24"/>
          <p:cNvSpPr/>
          <p:nvPr/>
        </p:nvSpPr>
        <p:spPr>
          <a:xfrm>
            <a:off x="10158984" y="254203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producción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548640" y="3172968"/>
            <a:ext cx="5349240" cy="786384"/>
          </a:xfrm>
          <a:prstGeom prst="roundRect">
            <a:avLst>
              <a:gd name="adj" fmla="val 9302"/>
            </a:avLst>
          </a:prstGeom>
          <a:solidFill>
            <a:srgbClr val="F6F8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94A3B8">
                <a:alpha val="25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548640" y="3172968"/>
            <a:ext cx="64008" cy="7863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0" name="Text 27"/>
          <p:cNvSpPr/>
          <p:nvPr/>
        </p:nvSpPr>
        <p:spPr>
          <a:xfrm>
            <a:off x="804672" y="328269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Compras</a:t>
            </a:r>
            <a:endParaRPr lang="en-US" sz="1450" dirty="0"/>
          </a:p>
        </p:txBody>
      </p:sp>
      <p:sp>
        <p:nvSpPr>
          <p:cNvPr id="31" name="Text 28"/>
          <p:cNvSpPr/>
          <p:nvPr/>
        </p:nvSpPr>
        <p:spPr>
          <a:xfrm>
            <a:off x="804672" y="35935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 con seguimiento de estado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4416552" y="3419856"/>
            <a:ext cx="1325880" cy="292608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/>
        </p:spPr>
      </p:sp>
      <p:sp>
        <p:nvSpPr>
          <p:cNvPr id="33" name="Text 30"/>
          <p:cNvSpPr/>
          <p:nvPr/>
        </p:nvSpPr>
        <p:spPr>
          <a:xfrm>
            <a:off x="4416552" y="3419856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producción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6291072" y="3172968"/>
            <a:ext cx="5349240" cy="786384"/>
          </a:xfrm>
          <a:prstGeom prst="roundRect">
            <a:avLst>
              <a:gd name="adj" fmla="val 9302"/>
            </a:avLst>
          </a:prstGeom>
          <a:solidFill>
            <a:srgbClr val="F6F8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94A3B8">
                <a:alpha val="25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6291072" y="3172968"/>
            <a:ext cx="64008" cy="7863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6" name="Text 33"/>
          <p:cNvSpPr/>
          <p:nvPr/>
        </p:nvSpPr>
        <p:spPr>
          <a:xfrm>
            <a:off x="6547104" y="328269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Bot de WhatsApp</a:t>
            </a:r>
            <a:endParaRPr lang="en-US" sz="1450" dirty="0"/>
          </a:p>
        </p:txBody>
      </p:sp>
      <p:sp>
        <p:nvSpPr>
          <p:cNvPr id="37" name="Text 34"/>
          <p:cNvSpPr/>
          <p:nvPr/>
        </p:nvSpPr>
        <p:spPr>
          <a:xfrm>
            <a:off x="6547104" y="35935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 desde el celular</a:t>
            </a:r>
            <a:endParaRPr lang="en-US" sz="1150" dirty="0"/>
          </a:p>
        </p:txBody>
      </p:sp>
      <p:sp>
        <p:nvSpPr>
          <p:cNvPr id="38" name="Shape 35"/>
          <p:cNvSpPr/>
          <p:nvPr/>
        </p:nvSpPr>
        <p:spPr>
          <a:xfrm>
            <a:off x="10158984" y="3419856"/>
            <a:ext cx="1325880" cy="292608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/>
        </p:spPr>
      </p:sp>
      <p:sp>
        <p:nvSpPr>
          <p:cNvPr id="39" name="Text 36"/>
          <p:cNvSpPr/>
          <p:nvPr/>
        </p:nvSpPr>
        <p:spPr>
          <a:xfrm>
            <a:off x="10158984" y="3419856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producción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548640" y="4050792"/>
            <a:ext cx="5349240" cy="786384"/>
          </a:xfrm>
          <a:prstGeom prst="roundRect">
            <a:avLst>
              <a:gd name="adj" fmla="val 9302"/>
            </a:avLst>
          </a:prstGeom>
          <a:solidFill>
            <a:srgbClr val="F6F8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94A3B8">
                <a:alpha val="25000"/>
              </a:srgbClr>
            </a:outerShdw>
          </a:effectLst>
        </p:spPr>
      </p:sp>
      <p:sp>
        <p:nvSpPr>
          <p:cNvPr id="41" name="Shape 38"/>
          <p:cNvSpPr/>
          <p:nvPr/>
        </p:nvSpPr>
        <p:spPr>
          <a:xfrm>
            <a:off x="548640" y="4050792"/>
            <a:ext cx="64008" cy="7863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2" name="Text 39"/>
          <p:cNvSpPr/>
          <p:nvPr/>
        </p:nvSpPr>
        <p:spPr>
          <a:xfrm>
            <a:off x="804672" y="416052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Laminación</a:t>
            </a:r>
            <a:endParaRPr lang="en-US" sz="1450" dirty="0"/>
          </a:p>
        </p:txBody>
      </p:sp>
      <p:sp>
        <p:nvSpPr>
          <p:cNvPr id="43" name="Text 40"/>
          <p:cNvSpPr/>
          <p:nvPr/>
        </p:nvSpPr>
        <p:spPr>
          <a:xfrm>
            <a:off x="804672" y="447141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Materiales y pedidos del área</a:t>
            </a:r>
            <a:endParaRPr lang="en-US" sz="1150" dirty="0"/>
          </a:p>
        </p:txBody>
      </p:sp>
      <p:sp>
        <p:nvSpPr>
          <p:cNvPr id="44" name="Shape 41"/>
          <p:cNvSpPr/>
          <p:nvPr/>
        </p:nvSpPr>
        <p:spPr>
          <a:xfrm>
            <a:off x="4416552" y="4297680"/>
            <a:ext cx="1325880" cy="292608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</p:sp>
      <p:sp>
        <p:nvSpPr>
          <p:cNvPr id="45" name="Text 42"/>
          <p:cNvSpPr/>
          <p:nvPr/>
        </p:nvSpPr>
        <p:spPr>
          <a:xfrm>
            <a:off x="4416552" y="429768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adopción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6291072" y="4050792"/>
            <a:ext cx="5349240" cy="786384"/>
          </a:xfrm>
          <a:prstGeom prst="roundRect">
            <a:avLst>
              <a:gd name="adj" fmla="val 9302"/>
            </a:avLst>
          </a:prstGeom>
          <a:solidFill>
            <a:srgbClr val="F6F8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94A3B8">
                <a:alpha val="25000"/>
              </a:srgbClr>
            </a:outerShdw>
          </a:effectLst>
        </p:spPr>
      </p:sp>
      <p:sp>
        <p:nvSpPr>
          <p:cNvPr id="47" name="Shape 44"/>
          <p:cNvSpPr/>
          <p:nvPr/>
        </p:nvSpPr>
        <p:spPr>
          <a:xfrm>
            <a:off x="6291072" y="4050792"/>
            <a:ext cx="64008" cy="7863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8" name="Text 45"/>
          <p:cNvSpPr/>
          <p:nvPr/>
        </p:nvSpPr>
        <p:spPr>
          <a:xfrm>
            <a:off x="6547104" y="416052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Fechas de producción</a:t>
            </a:r>
            <a:endParaRPr lang="en-US" sz="1450" dirty="0"/>
          </a:p>
        </p:txBody>
      </p:sp>
      <p:sp>
        <p:nvSpPr>
          <p:cNvPr id="49" name="Text 46"/>
          <p:cNvSpPr/>
          <p:nvPr/>
        </p:nvSpPr>
        <p:spPr>
          <a:xfrm>
            <a:off x="6547104" y="447141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 según el desmolde</a:t>
            </a:r>
            <a:endParaRPr lang="en-US" sz="1150" dirty="0"/>
          </a:p>
        </p:txBody>
      </p:sp>
      <p:sp>
        <p:nvSpPr>
          <p:cNvPr id="50" name="Shape 47"/>
          <p:cNvSpPr/>
          <p:nvPr/>
        </p:nvSpPr>
        <p:spPr>
          <a:xfrm>
            <a:off x="10158984" y="4297680"/>
            <a:ext cx="1325880" cy="292608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/>
        </p:spPr>
      </p:sp>
      <p:sp>
        <p:nvSpPr>
          <p:cNvPr id="51" name="Text 48"/>
          <p:cNvSpPr/>
          <p:nvPr/>
        </p:nvSpPr>
        <p:spPr>
          <a:xfrm>
            <a:off x="10158984" y="429768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</a:t>
            </a:r>
            <a:endParaRPr lang="en-US" sz="950" dirty="0"/>
          </a:p>
        </p:txBody>
      </p:sp>
      <p:sp>
        <p:nvSpPr>
          <p:cNvPr id="52" name="Shape 49"/>
          <p:cNvSpPr/>
          <p:nvPr/>
        </p:nvSpPr>
        <p:spPr>
          <a:xfrm>
            <a:off x="548640" y="4928616"/>
            <a:ext cx="5349240" cy="786384"/>
          </a:xfrm>
          <a:prstGeom prst="roundRect">
            <a:avLst>
              <a:gd name="adj" fmla="val 9302"/>
            </a:avLst>
          </a:prstGeom>
          <a:solidFill>
            <a:srgbClr val="F6F8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94A3B8">
                <a:alpha val="25000"/>
              </a:srgbClr>
            </a:outerShdw>
          </a:effectLst>
        </p:spPr>
      </p:sp>
      <p:sp>
        <p:nvSpPr>
          <p:cNvPr id="53" name="Shape 50"/>
          <p:cNvSpPr/>
          <p:nvPr/>
        </p:nvSpPr>
        <p:spPr>
          <a:xfrm>
            <a:off x="548640" y="4928616"/>
            <a:ext cx="64008" cy="7863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4" name="Text 51"/>
          <p:cNvSpPr/>
          <p:nvPr/>
        </p:nvSpPr>
        <p:spPr>
          <a:xfrm>
            <a:off x="804672" y="5038344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Planificación</a:t>
            </a:r>
            <a:endParaRPr lang="en-US" sz="1450" dirty="0"/>
          </a:p>
        </p:txBody>
      </p:sp>
      <p:sp>
        <p:nvSpPr>
          <p:cNvPr id="55" name="Text 52"/>
          <p:cNvSpPr/>
          <p:nvPr/>
        </p:nvSpPr>
        <p:spPr>
          <a:xfrm>
            <a:off x="804672" y="53492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Timeline, avisos y órdenes</a:t>
            </a:r>
            <a:endParaRPr lang="en-US" sz="1150" dirty="0"/>
          </a:p>
        </p:txBody>
      </p:sp>
      <p:sp>
        <p:nvSpPr>
          <p:cNvPr id="56" name="Shape 53"/>
          <p:cNvSpPr/>
          <p:nvPr/>
        </p:nvSpPr>
        <p:spPr>
          <a:xfrm>
            <a:off x="4416552" y="5175504"/>
            <a:ext cx="1325880" cy="292608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/>
        </p:spPr>
      </p:sp>
      <p:sp>
        <p:nvSpPr>
          <p:cNvPr id="57" name="Text 54"/>
          <p:cNvSpPr/>
          <p:nvPr/>
        </p:nvSpPr>
        <p:spPr>
          <a:xfrm>
            <a:off x="4416552" y="5175504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producción</a:t>
            </a:r>
            <a:endParaRPr lang="en-US" sz="950" dirty="0"/>
          </a:p>
        </p:txBody>
      </p:sp>
      <p:sp>
        <p:nvSpPr>
          <p:cNvPr id="58" name="Shape 55"/>
          <p:cNvSpPr/>
          <p:nvPr/>
        </p:nvSpPr>
        <p:spPr>
          <a:xfrm>
            <a:off x="6291072" y="4928616"/>
            <a:ext cx="5349240" cy="786384"/>
          </a:xfrm>
          <a:prstGeom prst="roundRect">
            <a:avLst>
              <a:gd name="adj" fmla="val 9302"/>
            </a:avLst>
          </a:prstGeom>
          <a:solidFill>
            <a:srgbClr val="F6F8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94A3B8">
                <a:alpha val="25000"/>
              </a:srgbClr>
            </a:outerShdw>
          </a:effectLst>
        </p:spPr>
      </p:sp>
      <p:sp>
        <p:nvSpPr>
          <p:cNvPr id="59" name="Shape 56"/>
          <p:cNvSpPr/>
          <p:nvPr/>
        </p:nvSpPr>
        <p:spPr>
          <a:xfrm>
            <a:off x="6291072" y="4928616"/>
            <a:ext cx="64008" cy="7863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0" name="Text 57"/>
          <p:cNvSpPr/>
          <p:nvPr/>
        </p:nvSpPr>
        <p:spPr>
          <a:xfrm>
            <a:off x="6547104" y="5038344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Marmolería &amp; Muebles</a:t>
            </a:r>
            <a:endParaRPr lang="en-US" sz="1450" dirty="0"/>
          </a:p>
        </p:txBody>
      </p:sp>
      <p:sp>
        <p:nvSpPr>
          <p:cNvPr id="61" name="Text 58"/>
          <p:cNvSpPr/>
          <p:nvPr/>
        </p:nvSpPr>
        <p:spPr>
          <a:xfrm>
            <a:off x="6547104" y="53492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Materiales por especialidad</a:t>
            </a:r>
            <a:endParaRPr lang="en-US" sz="1150" dirty="0"/>
          </a:p>
        </p:txBody>
      </p:sp>
      <p:sp>
        <p:nvSpPr>
          <p:cNvPr id="62" name="Shape 59"/>
          <p:cNvSpPr/>
          <p:nvPr/>
        </p:nvSpPr>
        <p:spPr>
          <a:xfrm>
            <a:off x="10158984" y="5175504"/>
            <a:ext cx="1325880" cy="292608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/>
        </p:spPr>
      </p:sp>
      <p:sp>
        <p:nvSpPr>
          <p:cNvPr id="63" name="Text 60"/>
          <p:cNvSpPr/>
          <p:nvPr/>
        </p:nvSpPr>
        <p:spPr>
          <a:xfrm>
            <a:off x="10158984" y="5175504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producción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proyectos\klasea-stock\_k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3015" y="411480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6576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Mapa de Producción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548640" y="8686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plano del galpón en tiempo real: qué barco está en cada puesto.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1715472" y="1243584"/>
            <a:ext cx="8760751" cy="292608"/>
          </a:xfrm>
          <a:prstGeom prst="rect">
            <a:avLst/>
          </a:prstGeom>
          <a:solidFill>
            <a:srgbClr val="E9EDF3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94A3B8">
                <a:alpha val="3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843488" y="1339596"/>
            <a:ext cx="100584" cy="100584"/>
          </a:xfrm>
          <a:prstGeom prst="ellipse">
            <a:avLst/>
          </a:prstGeom>
          <a:solidFill>
            <a:srgbClr val="EF6A5E"/>
          </a:solidFill>
          <a:ln/>
        </p:spPr>
      </p:sp>
      <p:sp>
        <p:nvSpPr>
          <p:cNvPr id="7" name="Shape 4"/>
          <p:cNvSpPr/>
          <p:nvPr/>
        </p:nvSpPr>
        <p:spPr>
          <a:xfrm>
            <a:off x="2008080" y="1339596"/>
            <a:ext cx="100584" cy="100584"/>
          </a:xfrm>
          <a:prstGeom prst="ellipse">
            <a:avLst/>
          </a:prstGeom>
          <a:solidFill>
            <a:srgbClr val="F5BD4F"/>
          </a:solidFill>
          <a:ln/>
        </p:spPr>
      </p:sp>
      <p:sp>
        <p:nvSpPr>
          <p:cNvPr id="8" name="Shape 5"/>
          <p:cNvSpPr/>
          <p:nvPr/>
        </p:nvSpPr>
        <p:spPr>
          <a:xfrm>
            <a:off x="2172672" y="1339596"/>
            <a:ext cx="100584" cy="100584"/>
          </a:xfrm>
          <a:prstGeom prst="ellipse">
            <a:avLst/>
          </a:prstGeom>
          <a:solidFill>
            <a:srgbClr val="61C554"/>
          </a:solidFill>
          <a:ln/>
        </p:spPr>
      </p:sp>
      <p:sp>
        <p:nvSpPr>
          <p:cNvPr id="9" name="Shape 6"/>
          <p:cNvSpPr/>
          <p:nvPr/>
        </p:nvSpPr>
        <p:spPr>
          <a:xfrm>
            <a:off x="2428704" y="1298448"/>
            <a:ext cx="384048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556720" y="128016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klasea-stock.vercel.app</a:t>
            </a:r>
            <a:endParaRPr lang="en-US" sz="850" dirty="0"/>
          </a:p>
        </p:txBody>
      </p:sp>
      <p:pic>
        <p:nvPicPr>
          <p:cNvPr id="11" name="Image 1" descr="D:\proyectos\klasea-stock\screenshots\map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5472" y="1536192"/>
            <a:ext cx="8760751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proyectos\klasea-stock\_k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3015" y="411480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6576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Obras — avance por barco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548640" y="8686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Etapas y tareas de cada barco, con porcentaje de avance.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746608" y="2035564"/>
            <a:ext cx="10698480" cy="292608"/>
          </a:xfrm>
          <a:prstGeom prst="rect">
            <a:avLst/>
          </a:prstGeom>
          <a:solidFill>
            <a:srgbClr val="E9EDF3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94A3B8">
                <a:alpha val="3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74624" y="2131576"/>
            <a:ext cx="100584" cy="100584"/>
          </a:xfrm>
          <a:prstGeom prst="ellipse">
            <a:avLst/>
          </a:prstGeom>
          <a:solidFill>
            <a:srgbClr val="EF6A5E"/>
          </a:solidFill>
          <a:ln/>
        </p:spPr>
      </p:sp>
      <p:sp>
        <p:nvSpPr>
          <p:cNvPr id="7" name="Shape 4"/>
          <p:cNvSpPr/>
          <p:nvPr/>
        </p:nvSpPr>
        <p:spPr>
          <a:xfrm>
            <a:off x="1039216" y="2131576"/>
            <a:ext cx="100584" cy="100584"/>
          </a:xfrm>
          <a:prstGeom prst="ellipse">
            <a:avLst/>
          </a:prstGeom>
          <a:solidFill>
            <a:srgbClr val="F5BD4F"/>
          </a:solidFill>
          <a:ln/>
        </p:spPr>
      </p:sp>
      <p:sp>
        <p:nvSpPr>
          <p:cNvPr id="8" name="Shape 5"/>
          <p:cNvSpPr/>
          <p:nvPr/>
        </p:nvSpPr>
        <p:spPr>
          <a:xfrm>
            <a:off x="1203808" y="2131576"/>
            <a:ext cx="100584" cy="100584"/>
          </a:xfrm>
          <a:prstGeom prst="ellipse">
            <a:avLst/>
          </a:prstGeom>
          <a:solidFill>
            <a:srgbClr val="61C554"/>
          </a:solidFill>
          <a:ln/>
        </p:spPr>
      </p:sp>
      <p:sp>
        <p:nvSpPr>
          <p:cNvPr id="9" name="Shape 6"/>
          <p:cNvSpPr/>
          <p:nvPr/>
        </p:nvSpPr>
        <p:spPr>
          <a:xfrm>
            <a:off x="1459840" y="2090428"/>
            <a:ext cx="384048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587856" y="20721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klasea-stock.vercel.app</a:t>
            </a:r>
            <a:endParaRPr lang="en-US" sz="850" dirty="0"/>
          </a:p>
        </p:txBody>
      </p:sp>
      <p:pic>
        <p:nvPicPr>
          <p:cNvPr id="11" name="Image 1" descr="D:\proyectos\klasea-stock\screenshots\obra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608" y="2328172"/>
            <a:ext cx="10698480" cy="298803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proyectos\klasea-stock\_k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3015" y="411480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6576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Compras — solicitudes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548640" y="8686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pedidos en un tablero, con estado, prioridad y obra.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1988922" y="1243584"/>
            <a:ext cx="8213851" cy="292608"/>
          </a:xfrm>
          <a:prstGeom prst="rect">
            <a:avLst/>
          </a:prstGeom>
          <a:solidFill>
            <a:srgbClr val="E9EDF3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94A3B8">
                <a:alpha val="3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116938" y="1339596"/>
            <a:ext cx="100584" cy="100584"/>
          </a:xfrm>
          <a:prstGeom prst="ellipse">
            <a:avLst/>
          </a:prstGeom>
          <a:solidFill>
            <a:srgbClr val="EF6A5E"/>
          </a:solidFill>
          <a:ln/>
        </p:spPr>
      </p:sp>
      <p:sp>
        <p:nvSpPr>
          <p:cNvPr id="7" name="Shape 4"/>
          <p:cNvSpPr/>
          <p:nvPr/>
        </p:nvSpPr>
        <p:spPr>
          <a:xfrm>
            <a:off x="2281530" y="1339596"/>
            <a:ext cx="100584" cy="100584"/>
          </a:xfrm>
          <a:prstGeom prst="ellipse">
            <a:avLst/>
          </a:prstGeom>
          <a:solidFill>
            <a:srgbClr val="F5BD4F"/>
          </a:solidFill>
          <a:ln/>
        </p:spPr>
      </p:sp>
      <p:sp>
        <p:nvSpPr>
          <p:cNvPr id="8" name="Shape 5"/>
          <p:cNvSpPr/>
          <p:nvPr/>
        </p:nvSpPr>
        <p:spPr>
          <a:xfrm>
            <a:off x="2446122" y="1339596"/>
            <a:ext cx="100584" cy="100584"/>
          </a:xfrm>
          <a:prstGeom prst="ellipse">
            <a:avLst/>
          </a:prstGeom>
          <a:solidFill>
            <a:srgbClr val="61C554"/>
          </a:solidFill>
          <a:ln/>
        </p:spPr>
      </p:sp>
      <p:sp>
        <p:nvSpPr>
          <p:cNvPr id="9" name="Shape 6"/>
          <p:cNvSpPr/>
          <p:nvPr/>
        </p:nvSpPr>
        <p:spPr>
          <a:xfrm>
            <a:off x="2702154" y="1298448"/>
            <a:ext cx="384048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30170" y="128016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klasea-stock.vercel.app</a:t>
            </a:r>
            <a:endParaRPr lang="en-US" sz="850" dirty="0"/>
          </a:p>
        </p:txBody>
      </p:sp>
      <p:pic>
        <p:nvPicPr>
          <p:cNvPr id="11" name="Image 1" descr="D:\proyectos\klasea-stock\screenshots\compras_list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8922" y="1536192"/>
            <a:ext cx="8213851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proyectos\klasea-stock\_k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3015" y="411480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6576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Compras — tablero operativo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548640" y="8686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Embudo de estados, urgentes y tiempos: la salud de compras de un vistazo.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2091707" y="1243584"/>
            <a:ext cx="8008280" cy="292608"/>
          </a:xfrm>
          <a:prstGeom prst="rect">
            <a:avLst/>
          </a:prstGeom>
          <a:solidFill>
            <a:srgbClr val="E9EDF3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94A3B8">
                <a:alpha val="3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219723" y="1339596"/>
            <a:ext cx="100584" cy="100584"/>
          </a:xfrm>
          <a:prstGeom prst="ellipse">
            <a:avLst/>
          </a:prstGeom>
          <a:solidFill>
            <a:srgbClr val="EF6A5E"/>
          </a:solidFill>
          <a:ln/>
        </p:spPr>
      </p:sp>
      <p:sp>
        <p:nvSpPr>
          <p:cNvPr id="7" name="Shape 4"/>
          <p:cNvSpPr/>
          <p:nvPr/>
        </p:nvSpPr>
        <p:spPr>
          <a:xfrm>
            <a:off x="2384315" y="1339596"/>
            <a:ext cx="100584" cy="100584"/>
          </a:xfrm>
          <a:prstGeom prst="ellipse">
            <a:avLst/>
          </a:prstGeom>
          <a:solidFill>
            <a:srgbClr val="F5BD4F"/>
          </a:solidFill>
          <a:ln/>
        </p:spPr>
      </p:sp>
      <p:sp>
        <p:nvSpPr>
          <p:cNvPr id="8" name="Shape 5"/>
          <p:cNvSpPr/>
          <p:nvPr/>
        </p:nvSpPr>
        <p:spPr>
          <a:xfrm>
            <a:off x="2548907" y="1339596"/>
            <a:ext cx="100584" cy="100584"/>
          </a:xfrm>
          <a:prstGeom prst="ellipse">
            <a:avLst/>
          </a:prstGeom>
          <a:solidFill>
            <a:srgbClr val="61C554"/>
          </a:solidFill>
          <a:ln/>
        </p:spPr>
      </p:sp>
      <p:sp>
        <p:nvSpPr>
          <p:cNvPr id="9" name="Shape 6"/>
          <p:cNvSpPr/>
          <p:nvPr/>
        </p:nvSpPr>
        <p:spPr>
          <a:xfrm>
            <a:off x="2804939" y="1298448"/>
            <a:ext cx="384048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932955" y="128016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klasea-stock.vercel.app</a:t>
            </a:r>
            <a:endParaRPr lang="en-US" sz="850" dirty="0"/>
          </a:p>
        </p:txBody>
      </p:sp>
      <p:pic>
        <p:nvPicPr>
          <p:cNvPr id="11" name="Image 1" descr="D:\proyectos\klasea-stock\screenshots\compras_das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1707" y="1536192"/>
            <a:ext cx="800828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proyectos\klasea-stock\_k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3015" y="411480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6576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Pañol — movimientos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548640" y="8686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Ingresos y egresos de materiales por obra, con recepción de pedidos.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2083084" y="1243584"/>
            <a:ext cx="8025528" cy="292608"/>
          </a:xfrm>
          <a:prstGeom prst="rect">
            <a:avLst/>
          </a:prstGeom>
          <a:solidFill>
            <a:srgbClr val="E9EDF3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94A3B8">
                <a:alpha val="3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211100" y="1339596"/>
            <a:ext cx="100584" cy="100584"/>
          </a:xfrm>
          <a:prstGeom prst="ellipse">
            <a:avLst/>
          </a:prstGeom>
          <a:solidFill>
            <a:srgbClr val="EF6A5E"/>
          </a:solidFill>
          <a:ln/>
        </p:spPr>
      </p:sp>
      <p:sp>
        <p:nvSpPr>
          <p:cNvPr id="7" name="Shape 4"/>
          <p:cNvSpPr/>
          <p:nvPr/>
        </p:nvSpPr>
        <p:spPr>
          <a:xfrm>
            <a:off x="2375692" y="1339596"/>
            <a:ext cx="100584" cy="100584"/>
          </a:xfrm>
          <a:prstGeom prst="ellipse">
            <a:avLst/>
          </a:prstGeom>
          <a:solidFill>
            <a:srgbClr val="F5BD4F"/>
          </a:solidFill>
          <a:ln/>
        </p:spPr>
      </p:sp>
      <p:sp>
        <p:nvSpPr>
          <p:cNvPr id="8" name="Shape 5"/>
          <p:cNvSpPr/>
          <p:nvPr/>
        </p:nvSpPr>
        <p:spPr>
          <a:xfrm>
            <a:off x="2540284" y="1339596"/>
            <a:ext cx="100584" cy="100584"/>
          </a:xfrm>
          <a:prstGeom prst="ellipse">
            <a:avLst/>
          </a:prstGeom>
          <a:solidFill>
            <a:srgbClr val="61C554"/>
          </a:solidFill>
          <a:ln/>
        </p:spPr>
      </p:sp>
      <p:sp>
        <p:nvSpPr>
          <p:cNvPr id="9" name="Shape 6"/>
          <p:cNvSpPr/>
          <p:nvPr/>
        </p:nvSpPr>
        <p:spPr>
          <a:xfrm>
            <a:off x="2796316" y="1298448"/>
            <a:ext cx="384048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924332" y="128016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klasea-stock.vercel.app</a:t>
            </a:r>
            <a:endParaRPr lang="en-US" sz="850" dirty="0"/>
          </a:p>
        </p:txBody>
      </p:sp>
      <p:pic>
        <p:nvPicPr>
          <p:cNvPr id="11" name="Image 1" descr="D:\proyectos\klasea-stock\screenshots\pano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3084" y="1536192"/>
            <a:ext cx="8025528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proyectos\klasea-stock\_k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3015" y="411480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10545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Métricas de uso real — Pañol &amp; Madera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48640" y="105156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reales del sistema al 5 de junio de 2026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48640" y="1828800"/>
            <a:ext cx="2596896" cy="2651760"/>
          </a:xfrm>
          <a:prstGeom prst="roundRect">
            <a:avLst>
              <a:gd name="adj" fmla="val 3521"/>
            </a:avLst>
          </a:prstGeom>
          <a:solidFill>
            <a:srgbClr val="EFF6FF"/>
          </a:solidFill>
          <a:ln w="15875">
            <a:solidFill>
              <a:srgbClr val="3B82F6"/>
            </a:solidFill>
            <a:prstDash val="solid"/>
          </a:ln>
          <a:effectLst>
            <a:outerShdw sx="100000" sy="100000" kx="0" ky="0" algn="bl" rotWithShape="0" blurRad="114300" dist="38100" dir="5400000">
              <a:srgbClr val="94A3B8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48640" y="2240280"/>
            <a:ext cx="25968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920</a:t>
            </a:r>
            <a:endParaRPr lang="en-US" sz="6600" dirty="0"/>
          </a:p>
        </p:txBody>
      </p:sp>
      <p:sp>
        <p:nvSpPr>
          <p:cNvPr id="7" name="Text 4"/>
          <p:cNvSpPr/>
          <p:nvPr/>
        </p:nvSpPr>
        <p:spPr>
          <a:xfrm>
            <a:off x="731520" y="3611880"/>
            <a:ext cx="223113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Movimientos registrados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3381146" y="1828800"/>
            <a:ext cx="2596896" cy="2651760"/>
          </a:xfrm>
          <a:prstGeom prst="roundRect">
            <a:avLst>
              <a:gd name="adj" fmla="val 3521"/>
            </a:avLst>
          </a:prstGeom>
          <a:solidFill>
            <a:srgbClr val="EFF6FF"/>
          </a:solidFill>
          <a:ln w="15875">
            <a:solidFill>
              <a:srgbClr val="3B82F6"/>
            </a:solidFill>
            <a:prstDash val="solid"/>
          </a:ln>
          <a:effectLst>
            <a:outerShdw sx="100000" sy="100000" kx="0" ky="0" algn="bl" rotWithShape="0" blurRad="114300" dist="38100" dir="5400000">
              <a:srgbClr val="94A3B8">
                <a:alpha val="2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381146" y="2240280"/>
            <a:ext cx="25968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766</a:t>
            </a:r>
            <a:endParaRPr lang="en-US" sz="6600" dirty="0"/>
          </a:p>
        </p:txBody>
      </p:sp>
      <p:sp>
        <p:nvSpPr>
          <p:cNvPr id="10" name="Text 7"/>
          <p:cNvSpPr/>
          <p:nvPr/>
        </p:nvSpPr>
        <p:spPr>
          <a:xfrm>
            <a:off x="3564026" y="3611880"/>
            <a:ext cx="223113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Egresos a obras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213653" y="1828800"/>
            <a:ext cx="2596896" cy="2651760"/>
          </a:xfrm>
          <a:prstGeom prst="roundRect">
            <a:avLst>
              <a:gd name="adj" fmla="val 3521"/>
            </a:avLst>
          </a:prstGeom>
          <a:solidFill>
            <a:srgbClr val="EFF6FF"/>
          </a:solidFill>
          <a:ln w="15875">
            <a:solidFill>
              <a:srgbClr val="3B82F6"/>
            </a:solidFill>
            <a:prstDash val="solid"/>
          </a:ln>
          <a:effectLst>
            <a:outerShdw sx="100000" sy="100000" kx="0" ky="0" algn="bl" rotWithShape="0" blurRad="114300" dist="38100" dir="5400000">
              <a:srgbClr val="94A3B8">
                <a:alpha val="2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213653" y="2240280"/>
            <a:ext cx="25968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154</a:t>
            </a:r>
            <a:endParaRPr lang="en-US" sz="6600" dirty="0"/>
          </a:p>
        </p:txBody>
      </p:sp>
      <p:sp>
        <p:nvSpPr>
          <p:cNvPr id="13" name="Text 10"/>
          <p:cNvSpPr/>
          <p:nvPr/>
        </p:nvSpPr>
        <p:spPr>
          <a:xfrm>
            <a:off x="6396533" y="3611880"/>
            <a:ext cx="223113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Ingresos recibidos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9046159" y="1828800"/>
            <a:ext cx="2596896" cy="2651760"/>
          </a:xfrm>
          <a:prstGeom prst="roundRect">
            <a:avLst>
              <a:gd name="adj" fmla="val 3521"/>
            </a:avLst>
          </a:prstGeom>
          <a:solidFill>
            <a:srgbClr val="EFF6FF"/>
          </a:solidFill>
          <a:ln w="15875">
            <a:solidFill>
              <a:srgbClr val="3B82F6"/>
            </a:solidFill>
            <a:prstDash val="solid"/>
          </a:ln>
          <a:effectLst>
            <a:outerShdw sx="100000" sy="100000" kx="0" ky="0" algn="bl" rotWithShape="0" blurRad="114300" dist="38100" dir="5400000">
              <a:srgbClr val="94A3B8">
                <a:alpha val="2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9046159" y="2240280"/>
            <a:ext cx="25968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59</a:t>
            </a:r>
            <a:endParaRPr lang="en-US" sz="6600" dirty="0"/>
          </a:p>
        </p:txBody>
      </p:sp>
      <p:sp>
        <p:nvSpPr>
          <p:cNvPr id="16" name="Text 13"/>
          <p:cNvSpPr/>
          <p:nvPr/>
        </p:nvSpPr>
        <p:spPr>
          <a:xfrm>
            <a:off x="9229039" y="3611880"/>
            <a:ext cx="223113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Obras con actividad</a:t>
            </a:r>
            <a:endParaRPr lang="en-US" sz="1450" dirty="0"/>
          </a:p>
        </p:txBody>
      </p:sp>
      <p:sp>
        <p:nvSpPr>
          <p:cNvPr id="17" name="Shape 14"/>
          <p:cNvSpPr/>
          <p:nvPr/>
        </p:nvSpPr>
        <p:spPr>
          <a:xfrm>
            <a:off x="548640" y="4892040"/>
            <a:ext cx="11094415" cy="868680"/>
          </a:xfrm>
          <a:prstGeom prst="roundRect">
            <a:avLst>
              <a:gd name="adj" fmla="val 10526"/>
            </a:avLst>
          </a:prstGeom>
          <a:solidFill>
            <a:srgbClr val="1E3A5F"/>
          </a:solidFill>
          <a:ln/>
        </p:spPr>
      </p:sp>
      <p:sp>
        <p:nvSpPr>
          <p:cNvPr id="18" name="Text 15"/>
          <p:cNvSpPr/>
          <p:nvPr/>
        </p:nvSpPr>
        <p:spPr>
          <a:xfrm>
            <a:off x="548640" y="4892040"/>
            <a:ext cx="1109441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pPr algn="ctr" indent="0" marL="0">
              <a:buNone/>
            </a:pPr>
            <a:r>
              <a:rPr lang="en-US" sz="16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movimientos en los últimos 7 días        </a:t>
            </a:r>
            <a:pPr algn="ctr"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pPr algn="ctr" indent="0" marL="0">
              <a:buNone/>
            </a:pPr>
            <a:r>
              <a:rPr lang="en-US" sz="16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materiales distintos trackeados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proyectos\klasea-stock\_k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3015" y="411480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10545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bot de WhatsApp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48640" y="1078992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 a compras desde el celular, en lenguaje natural. Sin abrir ninguna app.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548640" y="187452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261872" y="187452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operario manda un mensaje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2715768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2715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261872" y="2715768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bot pregunta sólo lo que falta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48640" y="3557016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2" name="Text 9"/>
          <p:cNvSpPr/>
          <p:nvPr/>
        </p:nvSpPr>
        <p:spPr>
          <a:xfrm>
            <a:off x="548640" y="35570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261872" y="3557016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crea el pedido automáticamente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548640" y="4398264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5" name="Text 12"/>
          <p:cNvSpPr/>
          <p:nvPr/>
        </p:nvSpPr>
        <p:spPr>
          <a:xfrm>
            <a:off x="548640" y="43982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261872" y="4398264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Compras recibe notificación por email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548640" y="5239512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8" name="Text 15"/>
          <p:cNvSpPr/>
          <p:nvPr/>
        </p:nvSpPr>
        <p:spPr>
          <a:xfrm>
            <a:off x="548640" y="5239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261872" y="5239512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Queda registrado con foto y seguimiento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6400800" y="1828800"/>
            <a:ext cx="5239512" cy="4160520"/>
          </a:xfrm>
          <a:prstGeom prst="roundRect">
            <a:avLst>
              <a:gd name="adj" fmla="val 2198"/>
            </a:avLst>
          </a:prstGeom>
          <a:solidFill>
            <a:srgbClr val="ECE5DD"/>
          </a:solidFill>
          <a:ln/>
          <a:effectLst>
            <a:outerShdw sx="100000" sy="100000" kx="0" ky="0" algn="bl" rotWithShape="0" blurRad="114300" dist="38100" dir="5400000">
              <a:srgbClr val="94A3B8">
                <a:alpha val="25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7434072" y="2103120"/>
            <a:ext cx="3977640" cy="777240"/>
          </a:xfrm>
          <a:prstGeom prst="roundRect">
            <a:avLst>
              <a:gd name="adj" fmla="val 9412"/>
            </a:avLst>
          </a:prstGeom>
          <a:solidFill>
            <a:srgbClr val="DCF8C6"/>
          </a:solidFill>
          <a:ln/>
          <a:effectLst>
            <a:outerShdw sx="100000" sy="100000" kx="0" ky="0" algn="bl" rotWithShape="0" blurRad="114300" dist="38100" dir="5400000">
              <a:srgbClr val="94A3B8">
                <a:alpha val="25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7598664" y="2103120"/>
            <a:ext cx="3648456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Necesito 6 tubos de No Más Clavos para el K52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6629400" y="3017520"/>
            <a:ext cx="39776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4A3B8">
                <a:alpha val="25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6793992" y="3017520"/>
            <a:ext cx="3648456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Anotado. ¿Prioridad alta, media o baja?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7434072" y="3703320"/>
            <a:ext cx="3977640" cy="411480"/>
          </a:xfrm>
          <a:prstGeom prst="roundRect">
            <a:avLst>
              <a:gd name="adj" fmla="val 17778"/>
            </a:avLst>
          </a:prstGeom>
          <a:solidFill>
            <a:srgbClr val="DCF8C6"/>
          </a:solidFill>
          <a:ln/>
          <a:effectLst>
            <a:outerShdw sx="100000" sy="100000" kx="0" ky="0" algn="bl" rotWithShape="0" blurRad="114300" dist="38100" dir="5400000">
              <a:srgbClr val="94A3B8">
                <a:alpha val="25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7598664" y="3703320"/>
            <a:ext cx="3648456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6629400" y="4251960"/>
            <a:ext cx="39776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4A3B8">
                <a:alpha val="25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6793992" y="4251960"/>
            <a:ext cx="3648456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B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Listo. Pedido creado y compras notificado.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6400800" y="5074920"/>
            <a:ext cx="5239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Entiende texto, fotos y audios.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proyectos\klasea-stock\_k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3015" y="411480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10545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Seguridad, roles y acceso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371600"/>
            <a:ext cx="5349240" cy="960120"/>
          </a:xfrm>
          <a:prstGeom prst="roundRect">
            <a:avLst>
              <a:gd name="adj" fmla="val 7619"/>
            </a:avLst>
          </a:prstGeom>
          <a:solidFill>
            <a:srgbClr val="F6F8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94A3B8">
                <a:alpha val="25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548640" y="1371600"/>
            <a:ext cx="64008" cy="9601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149047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Gestión / Admin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1847088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completo a todos los módulos y configuración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291072" y="1371600"/>
            <a:ext cx="5349240" cy="960120"/>
          </a:xfrm>
          <a:prstGeom prst="roundRect">
            <a:avLst>
              <a:gd name="adj" fmla="val 7619"/>
            </a:avLst>
          </a:prstGeom>
          <a:solidFill>
            <a:srgbClr val="F6F8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94A3B8">
                <a:alpha val="2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291072" y="1371600"/>
            <a:ext cx="64008" cy="9601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0" name="Text 7"/>
          <p:cNvSpPr/>
          <p:nvPr/>
        </p:nvSpPr>
        <p:spPr>
          <a:xfrm>
            <a:off x="6565392" y="149047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Compras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565392" y="1847088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Pedidos, órdenes de compra y proveedores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48640" y="2423160"/>
            <a:ext cx="5349240" cy="960120"/>
          </a:xfrm>
          <a:prstGeom prst="roundRect">
            <a:avLst>
              <a:gd name="adj" fmla="val 7619"/>
            </a:avLst>
          </a:prstGeom>
          <a:solidFill>
            <a:srgbClr val="F6F8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94A3B8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48640" y="2423160"/>
            <a:ext cx="64008" cy="9601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" y="254203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Pañol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822960" y="2898648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movimientos y recepción de pedidos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291072" y="2423160"/>
            <a:ext cx="5349240" cy="960120"/>
          </a:xfrm>
          <a:prstGeom prst="roundRect">
            <a:avLst>
              <a:gd name="adj" fmla="val 7619"/>
            </a:avLst>
          </a:prstGeom>
          <a:solidFill>
            <a:srgbClr val="F6F8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94A3B8">
                <a:alpha val="2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291072" y="2423160"/>
            <a:ext cx="64008" cy="9601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8" name="Text 15"/>
          <p:cNvSpPr/>
          <p:nvPr/>
        </p:nvSpPr>
        <p:spPr>
          <a:xfrm>
            <a:off x="6565392" y="254203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Laminación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6565392" y="2898648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Materiales y pedidos propios del área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548640" y="3474720"/>
            <a:ext cx="5349240" cy="960120"/>
          </a:xfrm>
          <a:prstGeom prst="roundRect">
            <a:avLst>
              <a:gd name="adj" fmla="val 7619"/>
            </a:avLst>
          </a:prstGeom>
          <a:solidFill>
            <a:srgbClr val="F6F8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94A3B8">
                <a:alpha val="25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48640" y="3474720"/>
            <a:ext cx="64008" cy="9601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2" name="Text 19"/>
          <p:cNvSpPr/>
          <p:nvPr/>
        </p:nvSpPr>
        <p:spPr>
          <a:xfrm>
            <a:off x="822960" y="359359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Encargado de obra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822960" y="3950208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de su barco y pedidos a compras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6291072" y="3474720"/>
            <a:ext cx="5349240" cy="960120"/>
          </a:xfrm>
          <a:prstGeom prst="roundRect">
            <a:avLst>
              <a:gd name="adj" fmla="val 7619"/>
            </a:avLst>
          </a:prstGeom>
          <a:solidFill>
            <a:srgbClr val="F6F8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94A3B8">
                <a:alpha val="25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6291072" y="3474720"/>
            <a:ext cx="64008" cy="9601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6" name="Text 23"/>
          <p:cNvSpPr/>
          <p:nvPr/>
        </p:nvSpPr>
        <p:spPr>
          <a:xfrm>
            <a:off x="6565392" y="359359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Consulta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6565392" y="3950208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producción y estado de obras (sólo lectura)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548640" y="598932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48640" y="5989320"/>
            <a:ext cx="1109441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en la nube   ·   Sin instalación   ·   Sincronización en tiempo real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proyectos\klasea-stock\_k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3015" y="411480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10545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Próximos pasos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11094415" cy="713232"/>
          </a:xfrm>
          <a:prstGeom prst="roundRect">
            <a:avLst>
              <a:gd name="adj" fmla="val 10256"/>
            </a:avLst>
          </a:prstGeom>
          <a:solidFill>
            <a:srgbClr val="F6F8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94A3B8">
                <a:alpha val="25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822960" y="1417320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Bot WhatsApp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4206240" y="1417320"/>
            <a:ext cx="6035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Comprensión de pedidos con IA avanzada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10225735" y="1627632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/>
        </p:spPr>
      </p:sp>
      <p:sp>
        <p:nvSpPr>
          <p:cNvPr id="8" name="Text 5"/>
          <p:cNvSpPr/>
          <p:nvPr/>
        </p:nvSpPr>
        <p:spPr>
          <a:xfrm>
            <a:off x="10225735" y="162763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48640" y="2240280"/>
            <a:ext cx="11094415" cy="713232"/>
          </a:xfrm>
          <a:prstGeom prst="roundRect">
            <a:avLst>
              <a:gd name="adj" fmla="val 10256"/>
            </a:avLst>
          </a:prstGeom>
          <a:solidFill>
            <a:srgbClr val="F6F8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94A3B8">
                <a:alpha val="2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22960" y="2240280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Fechas de producción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4206240" y="2240280"/>
            <a:ext cx="6035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Completar tiempos por modelo de barco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10225735" y="2450592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/>
        </p:spPr>
      </p:sp>
      <p:sp>
        <p:nvSpPr>
          <p:cNvPr id="13" name="Text 10"/>
          <p:cNvSpPr/>
          <p:nvPr/>
        </p:nvSpPr>
        <p:spPr>
          <a:xfrm>
            <a:off x="10225735" y="245059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48640" y="3063240"/>
            <a:ext cx="11094415" cy="713232"/>
          </a:xfrm>
          <a:prstGeom prst="roundRect">
            <a:avLst>
              <a:gd name="adj" fmla="val 10256"/>
            </a:avLst>
          </a:prstGeom>
          <a:solidFill>
            <a:srgbClr val="F6F8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94A3B8">
                <a:alpha val="2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22960" y="3063240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Calendario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4206240" y="3063240"/>
            <a:ext cx="6035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desmoldes con la planificación de compras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10225735" y="3273552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/>
        </p:spPr>
      </p:sp>
      <p:sp>
        <p:nvSpPr>
          <p:cNvPr id="18" name="Text 15"/>
          <p:cNvSpPr/>
          <p:nvPr/>
        </p:nvSpPr>
        <p:spPr>
          <a:xfrm>
            <a:off x="10225735" y="327355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548640" y="3886200"/>
            <a:ext cx="11094415" cy="713232"/>
          </a:xfrm>
          <a:prstGeom prst="roundRect">
            <a:avLst>
              <a:gd name="adj" fmla="val 10256"/>
            </a:avLst>
          </a:prstGeom>
          <a:solidFill>
            <a:srgbClr val="F6F8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94A3B8">
                <a:alpha val="25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822960" y="3886200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Laminación</a:t>
            </a:r>
            <a:endParaRPr lang="en-US" sz="1550" dirty="0"/>
          </a:p>
        </p:txBody>
      </p:sp>
      <p:sp>
        <p:nvSpPr>
          <p:cNvPr id="21" name="Text 18"/>
          <p:cNvSpPr/>
          <p:nvPr/>
        </p:nvSpPr>
        <p:spPr>
          <a:xfrm>
            <a:off x="4206240" y="3886200"/>
            <a:ext cx="6035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Adopción completa del módulo por el área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10225735" y="4096512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</p:sp>
      <p:sp>
        <p:nvSpPr>
          <p:cNvPr id="23" name="Text 20"/>
          <p:cNvSpPr/>
          <p:nvPr/>
        </p:nvSpPr>
        <p:spPr>
          <a:xfrm>
            <a:off x="10225735" y="409651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548640" y="4709160"/>
            <a:ext cx="11094415" cy="713232"/>
          </a:xfrm>
          <a:prstGeom prst="roundRect">
            <a:avLst>
              <a:gd name="adj" fmla="val 10256"/>
            </a:avLst>
          </a:prstGeom>
          <a:solidFill>
            <a:srgbClr val="F6F8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94A3B8">
                <a:alpha val="25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822960" y="4709160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Mobile</a:t>
            </a:r>
            <a:endParaRPr lang="en-US" sz="1550" dirty="0"/>
          </a:p>
        </p:txBody>
      </p:sp>
      <p:sp>
        <p:nvSpPr>
          <p:cNvPr id="26" name="Text 23"/>
          <p:cNvSpPr/>
          <p:nvPr/>
        </p:nvSpPr>
        <p:spPr>
          <a:xfrm>
            <a:off x="4206240" y="4709160"/>
            <a:ext cx="6035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Optimización para celular en todos los módulos</a:t>
            </a:r>
            <a:endParaRPr lang="en-US" sz="1350" dirty="0"/>
          </a:p>
        </p:txBody>
      </p:sp>
      <p:sp>
        <p:nvSpPr>
          <p:cNvPr id="27" name="Shape 24"/>
          <p:cNvSpPr/>
          <p:nvPr/>
        </p:nvSpPr>
        <p:spPr>
          <a:xfrm>
            <a:off x="10225735" y="4919472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</p:sp>
      <p:sp>
        <p:nvSpPr>
          <p:cNvPr id="28" name="Text 25"/>
          <p:cNvSpPr/>
          <p:nvPr/>
        </p:nvSpPr>
        <p:spPr>
          <a:xfrm>
            <a:off x="10225735" y="491947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548640" y="5532120"/>
            <a:ext cx="11094415" cy="713232"/>
          </a:xfrm>
          <a:prstGeom prst="roundRect">
            <a:avLst>
              <a:gd name="adj" fmla="val 10256"/>
            </a:avLst>
          </a:prstGeom>
          <a:solidFill>
            <a:srgbClr val="F6F8F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94A3B8">
                <a:alpha val="25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822960" y="5532120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Reportes</a:t>
            </a:r>
            <a:endParaRPr lang="en-US" sz="1550" dirty="0"/>
          </a:p>
        </p:txBody>
      </p:sp>
      <p:sp>
        <p:nvSpPr>
          <p:cNvPr id="31" name="Text 28"/>
          <p:cNvSpPr/>
          <p:nvPr/>
        </p:nvSpPr>
        <p:spPr>
          <a:xfrm>
            <a:off x="4206240" y="5532120"/>
            <a:ext cx="6035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Exportación a Excel / PDF de movimientos</a:t>
            </a:r>
            <a:endParaRPr lang="en-US" sz="1350" dirty="0"/>
          </a:p>
        </p:txBody>
      </p:sp>
      <p:sp>
        <p:nvSpPr>
          <p:cNvPr id="32" name="Shape 29"/>
          <p:cNvSpPr/>
          <p:nvPr/>
        </p:nvSpPr>
        <p:spPr>
          <a:xfrm>
            <a:off x="10225735" y="5742432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</p:sp>
      <p:sp>
        <p:nvSpPr>
          <p:cNvPr id="33" name="Text 30"/>
          <p:cNvSpPr/>
          <p:nvPr/>
        </p:nvSpPr>
        <p:spPr>
          <a:xfrm>
            <a:off x="10225735" y="574243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15263D"/>
          </a:solidFill>
          <a:ln/>
        </p:spPr>
      </p:sp>
      <p:pic>
        <p:nvPicPr>
          <p:cNvPr id="3" name="Image 0" descr="D:\proyectos\klasea-stock\_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92928" y="868680"/>
            <a:ext cx="1005840" cy="10058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194560"/>
            <a:ext cx="1036289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 sistema propio, ya en uso,</a:t>
            </a:r>
            <a:endParaRPr lang="en-US" sz="34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 crece con el astillero.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914400" y="411480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Hecho a medida
</a:t>
            </a:r>
            <a:pPr algn="ctr" indent="0" marL="0">
              <a:buNone/>
            </a:pPr>
            <a:r>
              <a:rPr lang="en-US" sz="1400" dirty="0">
                <a:solidFill>
                  <a:srgbClr val="CDD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Klase A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4541368" y="411480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producción
</a:t>
            </a:r>
            <a:pPr algn="ctr" indent="0" marL="0">
              <a:buNone/>
            </a:pPr>
            <a:r>
              <a:rPr lang="en-US" sz="1400" dirty="0">
                <a:solidFill>
                  <a:srgbClr val="CDD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datos reales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168335" y="411480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Escalable
</a:t>
            </a:r>
            <a:pPr algn="ctr" indent="0" marL="0">
              <a:buNone/>
            </a:pPr>
            <a:r>
              <a:rPr lang="en-US" sz="1400" dirty="0">
                <a:solidFill>
                  <a:srgbClr val="CDD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moderno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A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Klasea Stock  · 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Klasea Stock — Presentación</dc:title>
  <dc:subject>PptxGenJS Presentation</dc:subject>
  <dc:creator>Astillero Klase A</dc:creator>
  <cp:lastModifiedBy>Astillero Klase A</cp:lastModifiedBy>
  <cp:revision>1</cp:revision>
  <dcterms:created xsi:type="dcterms:W3CDTF">2026-06-08T15:55:58Z</dcterms:created>
  <dcterms:modified xsi:type="dcterms:W3CDTF">2026-06-08T15:55:58Z</dcterms:modified>
</cp:coreProperties>
</file>